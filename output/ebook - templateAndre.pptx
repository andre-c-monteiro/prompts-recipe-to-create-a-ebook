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63" r:id="rId3"/>
    <p:sldId id="264" r:id="rId4"/>
    <p:sldId id="259" r:id="rId5"/>
    <p:sldId id="260"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57" r:id="rId19"/>
    <p:sldId id="266" r:id="rId20"/>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E485"/>
    <a:srgbClr val="74360D"/>
    <a:srgbClr val="8A4E1C"/>
    <a:srgbClr val="CA83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Estilo com Tema 1 - Ênfase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100" d="100"/>
          <a:sy n="100" d="100"/>
        </p:scale>
        <p:origin x="1176" y="-1848"/>
      </p:cViewPr>
      <p:guideLst>
        <p:guide orient="horz" pos="312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36EDAB-3B2F-4741-96B1-3EA5CAA55745}" type="doc">
      <dgm:prSet loTypeId="urn:microsoft.com/office/officeart/2005/8/layout/hProcess11" loCatId="process" qsTypeId="urn:microsoft.com/office/officeart/2005/8/quickstyle/simple5" qsCatId="simple" csTypeId="urn:microsoft.com/office/officeart/2005/8/colors/accent1_2" csCatId="accent1" phldr="1"/>
      <dgm:spPr/>
      <dgm:t>
        <a:bodyPr/>
        <a:lstStyle/>
        <a:p>
          <a:endParaRPr lang="pt-BR"/>
        </a:p>
      </dgm:t>
    </dgm:pt>
    <dgm:pt modelId="{BF82CC8A-34DD-4530-80C9-BF3510B1A102}">
      <dgm:prSet phldrT="[Texto]" phldr="0" custT="1"/>
      <dgm:spPr/>
      <dgm:t>
        <a:bodyPr/>
        <a:lstStyle/>
        <a:p>
          <a:r>
            <a:rPr lang="pt-BR" sz="1000" dirty="0">
              <a:latin typeface="Crimson Text" pitchFamily="2" charset="0"/>
            </a:rPr>
            <a:t>Nascimento de São Bento de </a:t>
          </a:r>
          <a:r>
            <a:rPr lang="pt-BR" sz="1000" dirty="0" err="1">
              <a:latin typeface="Crimson Text" pitchFamily="2" charset="0"/>
            </a:rPr>
            <a:t>Núrsia</a:t>
          </a:r>
          <a:r>
            <a:rPr lang="pt-BR" sz="1000" dirty="0">
              <a:latin typeface="Crimson Text" pitchFamily="2" charset="0"/>
            </a:rPr>
            <a:t>           480  </a:t>
          </a:r>
        </a:p>
      </dgm:t>
    </dgm:pt>
    <dgm:pt modelId="{D741498A-E6B5-441A-9825-563703A1AF8F}" type="parTrans" cxnId="{8D63BFFE-C719-4AC6-85C3-38DA1435442B}">
      <dgm:prSet/>
      <dgm:spPr/>
      <dgm:t>
        <a:bodyPr/>
        <a:lstStyle/>
        <a:p>
          <a:endParaRPr lang="pt-BR"/>
        </a:p>
      </dgm:t>
    </dgm:pt>
    <dgm:pt modelId="{7EEC33B4-14A1-4ED0-8776-678DD25A3286}" type="sibTrans" cxnId="{8D63BFFE-C719-4AC6-85C3-38DA1435442B}">
      <dgm:prSet/>
      <dgm:spPr/>
      <dgm:t>
        <a:bodyPr/>
        <a:lstStyle/>
        <a:p>
          <a:endParaRPr lang="pt-BR"/>
        </a:p>
      </dgm:t>
    </dgm:pt>
    <dgm:pt modelId="{14BDF10C-8275-4BB3-B68A-C580735E3EE9}">
      <dgm:prSet phldrT="[Texto]" phldr="0" custT="1"/>
      <dgm:spPr>
        <a:noFill/>
        <a:ln>
          <a:noFill/>
        </a:ln>
        <a:effectLst/>
      </dgm:spPr>
      <dgm:t>
        <a:bodyPr spcFirstLastPara="0" vert="horz" wrap="square" lIns="71120" tIns="71120" rIns="71120" bIns="71120" numCol="1" spcCol="1270" anchor="b" anchorCtr="0"/>
        <a:lstStyle/>
        <a:p>
          <a:pPr marL="0" lvl="0" indent="0" algn="ctr" defTabSz="444500">
            <a:lnSpc>
              <a:spcPct val="90000"/>
            </a:lnSpc>
            <a:spcBef>
              <a:spcPct val="0"/>
            </a:spcBef>
            <a:spcAft>
              <a:spcPct val="35000"/>
            </a:spcAft>
            <a:buNone/>
          </a:pPr>
          <a:r>
            <a:rPr lang="pt-BR" sz="1000" kern="1200" dirty="0">
              <a:solidFill>
                <a:prstClr val="black">
                  <a:hueOff val="0"/>
                  <a:satOff val="0"/>
                  <a:lumOff val="0"/>
                  <a:alphaOff val="0"/>
                </a:prstClr>
              </a:solidFill>
              <a:latin typeface="Crimson Text" pitchFamily="2" charset="0"/>
              <a:ea typeface="+mn-ea"/>
              <a:cs typeface="+mn-cs"/>
            </a:rPr>
            <a:t>529    Fundação do Mosteiro de Monte Cassino</a:t>
          </a:r>
        </a:p>
      </dgm:t>
    </dgm:pt>
    <dgm:pt modelId="{417D13C9-12D2-4909-BA0D-E60239870314}" type="parTrans" cxnId="{4B6A6F46-5426-41B6-A698-98EC18A3FD96}">
      <dgm:prSet/>
      <dgm:spPr/>
      <dgm:t>
        <a:bodyPr/>
        <a:lstStyle/>
        <a:p>
          <a:endParaRPr lang="pt-BR"/>
        </a:p>
      </dgm:t>
    </dgm:pt>
    <dgm:pt modelId="{46FBEE9E-E8A0-4E69-8A32-363DA5252C44}" type="sibTrans" cxnId="{4B6A6F46-5426-41B6-A698-98EC18A3FD96}">
      <dgm:prSet/>
      <dgm:spPr/>
      <dgm:t>
        <a:bodyPr/>
        <a:lstStyle/>
        <a:p>
          <a:endParaRPr lang="pt-BR"/>
        </a:p>
      </dgm:t>
    </dgm:pt>
    <dgm:pt modelId="{1D671937-A379-453C-AF90-557EFBE89B9E}">
      <dgm:prSet phldrT="[Texto]" phldr="0" custT="1"/>
      <dgm:spPr/>
      <dgm:t>
        <a:bodyPr/>
        <a:lstStyle/>
        <a:p>
          <a:pPr marL="0" lvl="0" indent="0" algn="ctr" defTabSz="444500">
            <a:lnSpc>
              <a:spcPct val="90000"/>
            </a:lnSpc>
            <a:spcBef>
              <a:spcPct val="0"/>
            </a:spcBef>
            <a:spcAft>
              <a:spcPct val="35000"/>
            </a:spcAft>
            <a:buNone/>
          </a:pPr>
          <a:r>
            <a:rPr lang="pt-BR" sz="1000" kern="1200" dirty="0">
              <a:solidFill>
                <a:prstClr val="black">
                  <a:hueOff val="0"/>
                  <a:satOff val="0"/>
                  <a:lumOff val="0"/>
                  <a:alphaOff val="0"/>
                </a:prstClr>
              </a:solidFill>
              <a:latin typeface="Crimson Text" pitchFamily="2" charset="0"/>
              <a:ea typeface="+mn-ea"/>
              <a:cs typeface="+mn-cs"/>
            </a:rPr>
            <a:t>Morte de São Bento           547</a:t>
          </a:r>
        </a:p>
      </dgm:t>
    </dgm:pt>
    <dgm:pt modelId="{B676DAFB-5630-43BE-A31E-534984835DE7}" type="parTrans" cxnId="{54C3D2A2-BFCF-41D6-8BA2-A046E3F03C90}">
      <dgm:prSet/>
      <dgm:spPr/>
      <dgm:t>
        <a:bodyPr/>
        <a:lstStyle/>
        <a:p>
          <a:endParaRPr lang="pt-BR"/>
        </a:p>
      </dgm:t>
    </dgm:pt>
    <dgm:pt modelId="{3050327F-9B31-435A-98B4-85639C7DEB8D}" type="sibTrans" cxnId="{54C3D2A2-BFCF-41D6-8BA2-A046E3F03C90}">
      <dgm:prSet/>
      <dgm:spPr/>
    </dgm:pt>
    <dgm:pt modelId="{A348D179-FB96-48A6-B534-4DA75A367B7B}">
      <dgm:prSet phldrT="[Texto]" phldr="0" custT="1"/>
      <dgm:spPr/>
      <dgm:t>
        <a:bodyPr/>
        <a:lstStyle/>
        <a:p>
          <a:pPr marL="0" lvl="0" indent="0" algn="ctr" defTabSz="444500">
            <a:lnSpc>
              <a:spcPct val="90000"/>
            </a:lnSpc>
            <a:spcBef>
              <a:spcPct val="0"/>
            </a:spcBef>
            <a:spcAft>
              <a:spcPct val="35000"/>
            </a:spcAft>
            <a:buNone/>
          </a:pPr>
          <a:r>
            <a:rPr lang="pt-BR" sz="1000" kern="1200" dirty="0">
              <a:solidFill>
                <a:prstClr val="black">
                  <a:hueOff val="0"/>
                  <a:satOff val="0"/>
                  <a:lumOff val="0"/>
                  <a:alphaOff val="0"/>
                </a:prstClr>
              </a:solidFill>
              <a:latin typeface="Crimson Text" pitchFamily="2" charset="0"/>
              <a:ea typeface="+mn-ea"/>
              <a:cs typeface="+mn-cs"/>
            </a:rPr>
            <a:t>Séc. VII – X  Expansão Beneditina pela Europa</a:t>
          </a:r>
        </a:p>
      </dgm:t>
    </dgm:pt>
    <dgm:pt modelId="{E3A750E8-1BDE-423A-BECE-C55EFFB1BEC4}" type="parTrans" cxnId="{43603C77-BCA8-452F-8C25-87A4289D44E8}">
      <dgm:prSet/>
      <dgm:spPr/>
      <dgm:t>
        <a:bodyPr/>
        <a:lstStyle/>
        <a:p>
          <a:endParaRPr lang="pt-BR"/>
        </a:p>
      </dgm:t>
    </dgm:pt>
    <dgm:pt modelId="{D0CAF579-1383-4F98-A17C-8A5AC8B8336F}" type="sibTrans" cxnId="{43603C77-BCA8-452F-8C25-87A4289D44E8}">
      <dgm:prSet/>
      <dgm:spPr/>
      <dgm:t>
        <a:bodyPr/>
        <a:lstStyle/>
        <a:p>
          <a:endParaRPr lang="pt-BR"/>
        </a:p>
      </dgm:t>
    </dgm:pt>
    <dgm:pt modelId="{F95C5DDE-DF0B-4838-94CE-08455096F84F}">
      <dgm:prSet phldrT="[Texto]" phldr="0" custT="1"/>
      <dgm:spPr/>
      <dgm:t>
        <a:bodyPr/>
        <a:lstStyle/>
        <a:p>
          <a:r>
            <a:rPr lang="pt-BR" sz="1000" kern="1200" dirty="0">
              <a:solidFill>
                <a:prstClr val="black">
                  <a:hueOff val="0"/>
                  <a:satOff val="0"/>
                  <a:lumOff val="0"/>
                  <a:alphaOff val="0"/>
                </a:prstClr>
              </a:solidFill>
              <a:latin typeface="Crimson Text" pitchFamily="2" charset="0"/>
              <a:ea typeface="+mn-ea"/>
              <a:cs typeface="+mn-cs"/>
            </a:rPr>
            <a:t>Reforma de </a:t>
          </a:r>
          <a:r>
            <a:rPr lang="pt-BR" sz="1000" kern="1200" dirty="0" err="1">
              <a:solidFill>
                <a:prstClr val="black">
                  <a:hueOff val="0"/>
                  <a:satOff val="0"/>
                  <a:lumOff val="0"/>
                  <a:alphaOff val="0"/>
                </a:prstClr>
              </a:solidFill>
              <a:latin typeface="Crimson Text" pitchFamily="2" charset="0"/>
              <a:ea typeface="+mn-ea"/>
              <a:cs typeface="+mn-cs"/>
            </a:rPr>
            <a:t>Cluny</a:t>
          </a:r>
          <a:r>
            <a:rPr lang="pt-BR" sz="1000" kern="1200" dirty="0">
              <a:solidFill>
                <a:prstClr val="black">
                  <a:hueOff val="0"/>
                  <a:satOff val="0"/>
                  <a:lumOff val="0"/>
                  <a:alphaOff val="0"/>
                </a:prstClr>
              </a:solidFill>
              <a:latin typeface="Crimson Text" pitchFamily="2" charset="0"/>
              <a:ea typeface="+mn-ea"/>
              <a:cs typeface="+mn-cs"/>
            </a:rPr>
            <a:t>      910</a:t>
          </a:r>
        </a:p>
      </dgm:t>
    </dgm:pt>
    <dgm:pt modelId="{1D107400-F848-426E-B874-D49F19257206}" type="parTrans" cxnId="{03D39F90-E362-433B-B75A-BB9BDAB52720}">
      <dgm:prSet/>
      <dgm:spPr/>
      <dgm:t>
        <a:bodyPr/>
        <a:lstStyle/>
        <a:p>
          <a:endParaRPr lang="pt-BR"/>
        </a:p>
      </dgm:t>
    </dgm:pt>
    <dgm:pt modelId="{2632C32E-E20A-4D93-A38B-B72502905017}" type="sibTrans" cxnId="{03D39F90-E362-433B-B75A-BB9BDAB52720}">
      <dgm:prSet/>
      <dgm:spPr/>
      <dgm:t>
        <a:bodyPr/>
        <a:lstStyle/>
        <a:p>
          <a:endParaRPr lang="pt-BR"/>
        </a:p>
      </dgm:t>
    </dgm:pt>
    <dgm:pt modelId="{887548A2-D223-4C68-8424-F4F31AA3CB8F}">
      <dgm:prSet phldrT="[Texto]" phldr="0" custT="1"/>
      <dgm:spPr/>
      <dgm:t>
        <a:bodyPr/>
        <a:lstStyle/>
        <a:p>
          <a:pPr marL="0" lvl="0" indent="0" algn="ctr" defTabSz="444500">
            <a:lnSpc>
              <a:spcPct val="90000"/>
            </a:lnSpc>
            <a:spcBef>
              <a:spcPct val="0"/>
            </a:spcBef>
            <a:spcAft>
              <a:spcPct val="35000"/>
            </a:spcAft>
            <a:buNone/>
          </a:pPr>
          <a:r>
            <a:rPr lang="pt-BR" sz="1000" kern="1200" dirty="0">
              <a:solidFill>
                <a:prstClr val="black">
                  <a:hueOff val="0"/>
                  <a:satOff val="0"/>
                  <a:lumOff val="0"/>
                  <a:alphaOff val="0"/>
                </a:prstClr>
              </a:solidFill>
              <a:latin typeface="Crimson Text" pitchFamily="2" charset="0"/>
              <a:ea typeface="+mn-ea"/>
              <a:cs typeface="+mn-cs"/>
            </a:rPr>
            <a:t>1098 Fundação dos </a:t>
          </a:r>
          <a:r>
            <a:rPr lang="pt-BR" sz="1000" kern="1200" dirty="0" err="1">
              <a:solidFill>
                <a:prstClr val="black">
                  <a:hueOff val="0"/>
                  <a:satOff val="0"/>
                  <a:lumOff val="0"/>
                  <a:alphaOff val="0"/>
                </a:prstClr>
              </a:solidFill>
              <a:latin typeface="Crimson Text" pitchFamily="2" charset="0"/>
              <a:ea typeface="+mn-ea"/>
              <a:cs typeface="+mn-cs"/>
            </a:rPr>
            <a:t>Cistircienses</a:t>
          </a:r>
          <a:endParaRPr lang="pt-BR" sz="1000" kern="1200" dirty="0">
            <a:solidFill>
              <a:prstClr val="black">
                <a:hueOff val="0"/>
                <a:satOff val="0"/>
                <a:lumOff val="0"/>
                <a:alphaOff val="0"/>
              </a:prstClr>
            </a:solidFill>
            <a:latin typeface="Crimson Text" pitchFamily="2" charset="0"/>
            <a:ea typeface="+mn-ea"/>
            <a:cs typeface="+mn-cs"/>
          </a:endParaRPr>
        </a:p>
      </dgm:t>
    </dgm:pt>
    <dgm:pt modelId="{0CFEFEB6-60A4-42E4-99F9-52FBA385D7FF}" type="parTrans" cxnId="{824A9937-7F4A-446F-A755-E08ED8755ECB}">
      <dgm:prSet/>
      <dgm:spPr/>
      <dgm:t>
        <a:bodyPr/>
        <a:lstStyle/>
        <a:p>
          <a:endParaRPr lang="pt-BR"/>
        </a:p>
      </dgm:t>
    </dgm:pt>
    <dgm:pt modelId="{1EB662EF-8296-4F7D-9F24-59EAEFB35B93}" type="sibTrans" cxnId="{824A9937-7F4A-446F-A755-E08ED8755ECB}">
      <dgm:prSet/>
      <dgm:spPr/>
      <dgm:t>
        <a:bodyPr/>
        <a:lstStyle/>
        <a:p>
          <a:endParaRPr lang="pt-BR"/>
        </a:p>
      </dgm:t>
    </dgm:pt>
    <dgm:pt modelId="{BDF7466F-63BF-4789-A1C8-D527437E53D9}">
      <dgm:prSet phldrT="[Texto]" phldr="0" custT="1"/>
      <dgm:spPr/>
      <dgm:t>
        <a:bodyPr/>
        <a:lstStyle/>
        <a:p>
          <a:pPr marL="0" lvl="0" indent="0" algn="ctr" defTabSz="444500">
            <a:lnSpc>
              <a:spcPct val="90000"/>
            </a:lnSpc>
            <a:spcBef>
              <a:spcPct val="0"/>
            </a:spcBef>
            <a:spcAft>
              <a:spcPct val="35000"/>
            </a:spcAft>
            <a:buNone/>
          </a:pPr>
          <a:r>
            <a:rPr lang="pt-BR" sz="1000" kern="1200" dirty="0">
              <a:solidFill>
                <a:prstClr val="black">
                  <a:hueOff val="0"/>
                  <a:satOff val="0"/>
                  <a:lumOff val="0"/>
                  <a:alphaOff val="0"/>
                </a:prstClr>
              </a:solidFill>
              <a:latin typeface="Crimson Text" pitchFamily="2" charset="0"/>
              <a:ea typeface="+mn-ea"/>
              <a:cs typeface="+mn-cs"/>
            </a:rPr>
            <a:t>Mosteiros ativos no mundo, evangelizando por meio de oração e do trabalho         Sec. XXI</a:t>
          </a:r>
        </a:p>
      </dgm:t>
    </dgm:pt>
    <dgm:pt modelId="{AB15E4AC-E59F-45AD-86D9-3DE3AD7E6683}" type="parTrans" cxnId="{1614EBBE-B67D-4F73-807D-57E27359C3B8}">
      <dgm:prSet/>
      <dgm:spPr/>
      <dgm:t>
        <a:bodyPr/>
        <a:lstStyle/>
        <a:p>
          <a:endParaRPr lang="pt-BR"/>
        </a:p>
      </dgm:t>
    </dgm:pt>
    <dgm:pt modelId="{823D495B-AC47-41D4-B531-D570C85B03FF}" type="sibTrans" cxnId="{1614EBBE-B67D-4F73-807D-57E27359C3B8}">
      <dgm:prSet/>
      <dgm:spPr/>
      <dgm:t>
        <a:bodyPr/>
        <a:lstStyle/>
        <a:p>
          <a:endParaRPr lang="pt-BR"/>
        </a:p>
      </dgm:t>
    </dgm:pt>
    <dgm:pt modelId="{7C5671E1-F915-48A6-9929-06A58E7252FA}" type="pres">
      <dgm:prSet presAssocID="{9836EDAB-3B2F-4741-96B1-3EA5CAA55745}" presName="Name0" presStyleCnt="0">
        <dgm:presLayoutVars>
          <dgm:dir/>
          <dgm:resizeHandles val="exact"/>
        </dgm:presLayoutVars>
      </dgm:prSet>
      <dgm:spPr/>
    </dgm:pt>
    <dgm:pt modelId="{420AF34D-A3F8-4368-B43C-BE6D0B11394A}" type="pres">
      <dgm:prSet presAssocID="{9836EDAB-3B2F-4741-96B1-3EA5CAA55745}" presName="arrow" presStyleLbl="bgShp" presStyleIdx="0" presStyleCnt="1"/>
      <dgm:spPr>
        <a:solidFill>
          <a:srgbClr val="FEE485"/>
        </a:solidFill>
      </dgm:spPr>
    </dgm:pt>
    <dgm:pt modelId="{928D9B02-F865-454B-B86D-AFC55DF0F2FE}" type="pres">
      <dgm:prSet presAssocID="{9836EDAB-3B2F-4741-96B1-3EA5CAA55745}" presName="points" presStyleCnt="0"/>
      <dgm:spPr/>
    </dgm:pt>
    <dgm:pt modelId="{73E42C24-A6F1-4213-BDD1-C5E80A3F315B}" type="pres">
      <dgm:prSet presAssocID="{BF82CC8A-34DD-4530-80C9-BF3510B1A102}" presName="compositeA" presStyleCnt="0"/>
      <dgm:spPr/>
    </dgm:pt>
    <dgm:pt modelId="{A204D498-66B7-46E8-BBBA-1B260353805F}" type="pres">
      <dgm:prSet presAssocID="{BF82CC8A-34DD-4530-80C9-BF3510B1A102}" presName="textA" presStyleLbl="revTx" presStyleIdx="0" presStyleCnt="7" custScaleX="111004" custLinFactNeighborX="610" custLinFactNeighborY="16445">
        <dgm:presLayoutVars>
          <dgm:bulletEnabled val="1"/>
        </dgm:presLayoutVars>
      </dgm:prSet>
      <dgm:spPr/>
    </dgm:pt>
    <dgm:pt modelId="{47C395FF-0B22-4C24-BBD5-F2151A64DDAE}" type="pres">
      <dgm:prSet presAssocID="{BF82CC8A-34DD-4530-80C9-BF3510B1A102}" presName="circleA" presStyleLbl="node1" presStyleIdx="0" presStyleCnt="7"/>
      <dgm:spPr>
        <a:gradFill flip="none" rotWithShape="1">
          <a:gsLst>
            <a:gs pos="0">
              <a:srgbClr val="CA8335"/>
            </a:gs>
            <a:gs pos="50000">
              <a:srgbClr val="8A4E1C"/>
            </a:gs>
            <a:gs pos="100000">
              <a:srgbClr val="74360D"/>
            </a:gs>
          </a:gsLst>
          <a:lin ang="16200000" scaled="1"/>
          <a:tileRect/>
        </a:gradFill>
      </dgm:spPr>
    </dgm:pt>
    <dgm:pt modelId="{1CC42D5E-13FC-4E7E-B5C5-25D21D75F6B4}" type="pres">
      <dgm:prSet presAssocID="{BF82CC8A-34DD-4530-80C9-BF3510B1A102}" presName="spaceA" presStyleCnt="0"/>
      <dgm:spPr/>
    </dgm:pt>
    <dgm:pt modelId="{00CA0952-CD32-421A-884C-5019571A810F}" type="pres">
      <dgm:prSet presAssocID="{7EEC33B4-14A1-4ED0-8776-678DD25A3286}" presName="space" presStyleCnt="0"/>
      <dgm:spPr/>
    </dgm:pt>
    <dgm:pt modelId="{3A497B27-EE00-4919-9EA0-D9B8C89F70CE}" type="pres">
      <dgm:prSet presAssocID="{14BDF10C-8275-4BB3-B68A-C580735E3EE9}" presName="compositeB" presStyleCnt="0"/>
      <dgm:spPr/>
    </dgm:pt>
    <dgm:pt modelId="{F64AFA0B-85A8-4A8D-A321-0016DF45854A}" type="pres">
      <dgm:prSet presAssocID="{14BDF10C-8275-4BB3-B68A-C580735E3EE9}" presName="textB" presStyleLbl="revTx" presStyleIdx="1" presStyleCnt="7" custLinFactNeighborY="-50783">
        <dgm:presLayoutVars>
          <dgm:bulletEnabled val="1"/>
        </dgm:presLayoutVars>
      </dgm:prSet>
      <dgm:spPr>
        <a:xfrm>
          <a:off x="793628" y="1773175"/>
          <a:ext cx="755388" cy="1377116"/>
        </a:xfrm>
        <a:prstGeom prst="rect">
          <a:avLst/>
        </a:prstGeom>
      </dgm:spPr>
    </dgm:pt>
    <dgm:pt modelId="{BFDE867C-CB85-4E06-AAA4-0C00DCC39DF5}" type="pres">
      <dgm:prSet presAssocID="{14BDF10C-8275-4BB3-B68A-C580735E3EE9}" presName="circleB" presStyleLbl="node1" presStyleIdx="1" presStyleCnt="7"/>
      <dgm:spPr>
        <a:xfrm>
          <a:off x="999183" y="1549256"/>
          <a:ext cx="344279" cy="344279"/>
        </a:xfrm>
        <a:prstGeom prst="ellipse">
          <a:avLst/>
        </a:prstGeom>
        <a:gradFill flip="none" rotWithShape="1">
          <a:gsLst>
            <a:gs pos="0">
              <a:srgbClr val="CA8335"/>
            </a:gs>
            <a:gs pos="50000">
              <a:srgbClr val="8A4E1C"/>
            </a:gs>
            <a:gs pos="100000">
              <a:srgbClr val="74360D"/>
            </a:gs>
          </a:gsLst>
          <a:lin ang="16200000" scaled="1"/>
          <a:tileRect/>
        </a:gradFill>
        <a:ln>
          <a:noFill/>
        </a:ln>
        <a:effectLst>
          <a:outerShdw blurRad="57150" dist="19050" dir="5400000" algn="ctr" rotWithShape="0">
            <a:srgbClr val="000000">
              <a:alpha val="63000"/>
            </a:srgbClr>
          </a:outerShdw>
        </a:effectLst>
      </dgm:spPr>
    </dgm:pt>
    <dgm:pt modelId="{1BC88733-E1C0-4411-8400-88535B9E67FE}" type="pres">
      <dgm:prSet presAssocID="{14BDF10C-8275-4BB3-B68A-C580735E3EE9}" presName="spaceB" presStyleCnt="0"/>
      <dgm:spPr/>
    </dgm:pt>
    <dgm:pt modelId="{AAC468FF-978B-49CF-BED6-AE91807F9D19}" type="pres">
      <dgm:prSet presAssocID="{46FBEE9E-E8A0-4E69-8A32-363DA5252C44}" presName="space" presStyleCnt="0"/>
      <dgm:spPr/>
    </dgm:pt>
    <dgm:pt modelId="{7E73AE0E-772B-409F-A06D-D374D45FCA99}" type="pres">
      <dgm:prSet presAssocID="{1D671937-A379-453C-AF90-557EFBE89B9E}" presName="compositeA" presStyleCnt="0"/>
      <dgm:spPr/>
    </dgm:pt>
    <dgm:pt modelId="{5D5C86D6-B5C0-4E0A-9651-C75E5C0AA546}" type="pres">
      <dgm:prSet presAssocID="{1D671937-A379-453C-AF90-557EFBE89B9E}" presName="textA" presStyleLbl="revTx" presStyleIdx="2" presStyleCnt="7" custLinFactNeighborY="17350">
        <dgm:presLayoutVars>
          <dgm:bulletEnabled val="1"/>
        </dgm:presLayoutVars>
      </dgm:prSet>
      <dgm:spPr/>
    </dgm:pt>
    <dgm:pt modelId="{16DBB619-7EA8-42C2-93FF-0E15BEE57614}" type="pres">
      <dgm:prSet presAssocID="{1D671937-A379-453C-AF90-557EFBE89B9E}" presName="circleA" presStyleLbl="node1" presStyleIdx="2" presStyleCnt="7"/>
      <dgm:spPr>
        <a:xfrm>
          <a:off x="1792340" y="1549256"/>
          <a:ext cx="344279" cy="344279"/>
        </a:xfrm>
        <a:prstGeom prst="ellipse">
          <a:avLst/>
        </a:prstGeom>
        <a:gradFill flip="none" rotWithShape="1">
          <a:gsLst>
            <a:gs pos="0">
              <a:srgbClr val="CA8335"/>
            </a:gs>
            <a:gs pos="50000">
              <a:srgbClr val="8A4E1C"/>
            </a:gs>
            <a:gs pos="100000">
              <a:srgbClr val="74360D"/>
            </a:gs>
          </a:gsLst>
          <a:lin ang="16200000" scaled="1"/>
          <a:tileRect/>
        </a:gradFill>
        <a:ln>
          <a:noFill/>
        </a:ln>
        <a:effectLst>
          <a:outerShdw blurRad="57150" dist="19050" dir="5400000" algn="ctr" rotWithShape="0">
            <a:srgbClr val="000000">
              <a:alpha val="63000"/>
            </a:srgbClr>
          </a:outerShdw>
        </a:effectLst>
      </dgm:spPr>
    </dgm:pt>
    <dgm:pt modelId="{FD90F373-CBE6-4803-B560-3360D9B57545}" type="pres">
      <dgm:prSet presAssocID="{1D671937-A379-453C-AF90-557EFBE89B9E}" presName="spaceA" presStyleCnt="0"/>
      <dgm:spPr/>
    </dgm:pt>
    <dgm:pt modelId="{CCC699A3-CBE6-44C8-9266-E3D302E0EF6B}" type="pres">
      <dgm:prSet presAssocID="{3050327F-9B31-435A-98B4-85639C7DEB8D}" presName="space" presStyleCnt="0"/>
      <dgm:spPr/>
    </dgm:pt>
    <dgm:pt modelId="{C6DB7BEF-46A5-45D9-AFDA-E12D61205F8A}" type="pres">
      <dgm:prSet presAssocID="{A348D179-FB96-48A6-B534-4DA75A367B7B}" presName="compositeB" presStyleCnt="0"/>
      <dgm:spPr/>
    </dgm:pt>
    <dgm:pt modelId="{AD6CE318-DBD8-4046-8714-DDAE862C823D}" type="pres">
      <dgm:prSet presAssocID="{A348D179-FB96-48A6-B534-4DA75A367B7B}" presName="textB" presStyleLbl="revTx" presStyleIdx="3" presStyleCnt="7" custLinFactNeighborY="-15285">
        <dgm:presLayoutVars>
          <dgm:bulletEnabled val="1"/>
        </dgm:presLayoutVars>
      </dgm:prSet>
      <dgm:spPr/>
    </dgm:pt>
    <dgm:pt modelId="{C903A79E-CC5B-4D22-88C6-36D47DA6852F}" type="pres">
      <dgm:prSet presAssocID="{A348D179-FB96-48A6-B534-4DA75A367B7B}" presName="circleB" presStyleLbl="node1" presStyleIdx="3" presStyleCnt="7"/>
      <dgm:spPr>
        <a:xfrm>
          <a:off x="2585498" y="1549256"/>
          <a:ext cx="344279" cy="344279"/>
        </a:xfrm>
        <a:prstGeom prst="ellipse">
          <a:avLst/>
        </a:prstGeom>
        <a:gradFill flip="none" rotWithShape="1">
          <a:gsLst>
            <a:gs pos="0">
              <a:srgbClr val="CA8335"/>
            </a:gs>
            <a:gs pos="50000">
              <a:srgbClr val="8A4E1C"/>
            </a:gs>
            <a:gs pos="100000">
              <a:srgbClr val="74360D"/>
            </a:gs>
          </a:gsLst>
          <a:lin ang="16200000" scaled="1"/>
          <a:tileRect/>
        </a:gradFill>
        <a:ln>
          <a:noFill/>
        </a:ln>
        <a:effectLst>
          <a:outerShdw blurRad="57150" dist="19050" dir="5400000" algn="ctr" rotWithShape="0">
            <a:srgbClr val="000000">
              <a:alpha val="63000"/>
            </a:srgbClr>
          </a:outerShdw>
        </a:effectLst>
      </dgm:spPr>
    </dgm:pt>
    <dgm:pt modelId="{93543C82-5FE1-4921-8D38-C86333C7D918}" type="pres">
      <dgm:prSet presAssocID="{A348D179-FB96-48A6-B534-4DA75A367B7B}" presName="spaceB" presStyleCnt="0"/>
      <dgm:spPr/>
    </dgm:pt>
    <dgm:pt modelId="{B7A29518-A186-4EB7-8D20-0624C439E85D}" type="pres">
      <dgm:prSet presAssocID="{D0CAF579-1383-4F98-A17C-8A5AC8B8336F}" presName="space" presStyleCnt="0"/>
      <dgm:spPr/>
    </dgm:pt>
    <dgm:pt modelId="{84BF9B69-C673-440A-AA46-C6ACDE5B4E13}" type="pres">
      <dgm:prSet presAssocID="{F95C5DDE-DF0B-4838-94CE-08455096F84F}" presName="compositeA" presStyleCnt="0"/>
      <dgm:spPr/>
    </dgm:pt>
    <dgm:pt modelId="{21A6697B-3BE5-4484-A092-BB4B5BF05072}" type="pres">
      <dgm:prSet presAssocID="{F95C5DDE-DF0B-4838-94CE-08455096F84F}" presName="textA" presStyleLbl="revTx" presStyleIdx="4" presStyleCnt="7" custLinFactNeighborY="16460">
        <dgm:presLayoutVars>
          <dgm:bulletEnabled val="1"/>
        </dgm:presLayoutVars>
      </dgm:prSet>
      <dgm:spPr/>
    </dgm:pt>
    <dgm:pt modelId="{4782BD40-6400-4C3D-B3C7-92390E26AB39}" type="pres">
      <dgm:prSet presAssocID="{F95C5DDE-DF0B-4838-94CE-08455096F84F}" presName="circleA" presStyleLbl="node1" presStyleIdx="4" presStyleCnt="7"/>
      <dgm:spPr>
        <a:xfrm>
          <a:off x="3378655" y="1549256"/>
          <a:ext cx="344279" cy="344279"/>
        </a:xfrm>
        <a:prstGeom prst="ellipse">
          <a:avLst/>
        </a:prstGeom>
        <a:gradFill flip="none" rotWithShape="1">
          <a:gsLst>
            <a:gs pos="0">
              <a:srgbClr val="CA8335"/>
            </a:gs>
            <a:gs pos="50000">
              <a:srgbClr val="8A4E1C"/>
            </a:gs>
            <a:gs pos="100000">
              <a:srgbClr val="74360D"/>
            </a:gs>
          </a:gsLst>
          <a:lin ang="16200000" scaled="1"/>
          <a:tileRect/>
        </a:gradFill>
        <a:ln>
          <a:noFill/>
        </a:ln>
        <a:effectLst>
          <a:outerShdw blurRad="57150" dist="19050" dir="5400000" algn="ctr" rotWithShape="0">
            <a:srgbClr val="000000">
              <a:alpha val="63000"/>
            </a:srgbClr>
          </a:outerShdw>
        </a:effectLst>
      </dgm:spPr>
    </dgm:pt>
    <dgm:pt modelId="{8D8B23E9-5DFE-4521-97E2-43C35F0587BF}" type="pres">
      <dgm:prSet presAssocID="{F95C5DDE-DF0B-4838-94CE-08455096F84F}" presName="spaceA" presStyleCnt="0"/>
      <dgm:spPr/>
    </dgm:pt>
    <dgm:pt modelId="{08155A93-D1B2-4456-B240-A95F5EADE939}" type="pres">
      <dgm:prSet presAssocID="{2632C32E-E20A-4D93-A38B-B72502905017}" presName="space" presStyleCnt="0"/>
      <dgm:spPr/>
    </dgm:pt>
    <dgm:pt modelId="{FEF9C4DA-27D8-4901-BCDF-DC74DF0707FC}" type="pres">
      <dgm:prSet presAssocID="{887548A2-D223-4C68-8424-F4F31AA3CB8F}" presName="compositeB" presStyleCnt="0"/>
      <dgm:spPr/>
    </dgm:pt>
    <dgm:pt modelId="{9C8E4AA6-D4CA-4509-8E66-660D55C0377B}" type="pres">
      <dgm:prSet presAssocID="{887548A2-D223-4C68-8424-F4F31AA3CB8F}" presName="textB" presStyleLbl="revTx" presStyleIdx="5" presStyleCnt="7" custScaleX="113196" custLinFactNeighborY="-15285">
        <dgm:presLayoutVars>
          <dgm:bulletEnabled val="1"/>
        </dgm:presLayoutVars>
      </dgm:prSet>
      <dgm:spPr/>
    </dgm:pt>
    <dgm:pt modelId="{33365F61-E2B1-4D5B-A70C-7D63D431224A}" type="pres">
      <dgm:prSet presAssocID="{887548A2-D223-4C68-8424-F4F31AA3CB8F}" presName="circleB" presStyleLbl="node1" presStyleIdx="5" presStyleCnt="7"/>
      <dgm:spPr>
        <a:xfrm>
          <a:off x="4171813" y="1549256"/>
          <a:ext cx="344279" cy="344279"/>
        </a:xfrm>
        <a:prstGeom prst="ellipse">
          <a:avLst/>
        </a:prstGeom>
        <a:gradFill flip="none" rotWithShape="1">
          <a:gsLst>
            <a:gs pos="0">
              <a:srgbClr val="CA8335"/>
            </a:gs>
            <a:gs pos="50000">
              <a:srgbClr val="8A4E1C"/>
            </a:gs>
            <a:gs pos="100000">
              <a:srgbClr val="74360D"/>
            </a:gs>
          </a:gsLst>
          <a:lin ang="16200000" scaled="1"/>
          <a:tileRect/>
        </a:gradFill>
        <a:ln>
          <a:noFill/>
        </a:ln>
        <a:effectLst>
          <a:outerShdw blurRad="57150" dist="19050" dir="5400000" algn="ctr" rotWithShape="0">
            <a:srgbClr val="000000">
              <a:alpha val="63000"/>
            </a:srgbClr>
          </a:outerShdw>
        </a:effectLst>
      </dgm:spPr>
    </dgm:pt>
    <dgm:pt modelId="{307DAC89-56C7-4A02-8E1F-A1F591849683}" type="pres">
      <dgm:prSet presAssocID="{887548A2-D223-4C68-8424-F4F31AA3CB8F}" presName="spaceB" presStyleCnt="0"/>
      <dgm:spPr/>
    </dgm:pt>
    <dgm:pt modelId="{1FAE0BA7-741E-4296-A000-727C548E81DA}" type="pres">
      <dgm:prSet presAssocID="{1EB662EF-8296-4F7D-9F24-59EAEFB35B93}" presName="space" presStyleCnt="0"/>
      <dgm:spPr/>
    </dgm:pt>
    <dgm:pt modelId="{52CA512B-52B1-4E85-AE7A-77452BD7F3A9}" type="pres">
      <dgm:prSet presAssocID="{BDF7466F-63BF-4789-A1C8-D527437E53D9}" presName="compositeA" presStyleCnt="0"/>
      <dgm:spPr/>
    </dgm:pt>
    <dgm:pt modelId="{7FD0BCFE-DC15-4A55-BC2D-56CE053E80ED}" type="pres">
      <dgm:prSet presAssocID="{BDF7466F-63BF-4789-A1C8-D527437E53D9}" presName="textA" presStyleLbl="revTx" presStyleIdx="6" presStyleCnt="7" custScaleX="140611" custLinFactNeighborY="16460">
        <dgm:presLayoutVars>
          <dgm:bulletEnabled val="1"/>
        </dgm:presLayoutVars>
      </dgm:prSet>
      <dgm:spPr/>
    </dgm:pt>
    <dgm:pt modelId="{BE8E1D22-6C3D-4E3D-AD80-F197A0897459}" type="pres">
      <dgm:prSet presAssocID="{BDF7466F-63BF-4789-A1C8-D527437E53D9}" presName="circleA" presStyleLbl="node1" presStyleIdx="6" presStyleCnt="7"/>
      <dgm:spPr>
        <a:xfrm>
          <a:off x="4964970" y="1549256"/>
          <a:ext cx="344279" cy="344279"/>
        </a:xfrm>
        <a:prstGeom prst="ellipse">
          <a:avLst/>
        </a:prstGeom>
        <a:gradFill flip="none" rotWithShape="1">
          <a:gsLst>
            <a:gs pos="0">
              <a:srgbClr val="CA8335"/>
            </a:gs>
            <a:gs pos="50000">
              <a:srgbClr val="8A4E1C"/>
            </a:gs>
            <a:gs pos="100000">
              <a:srgbClr val="74360D"/>
            </a:gs>
          </a:gsLst>
          <a:lin ang="16200000" scaled="1"/>
          <a:tileRect/>
        </a:gradFill>
        <a:ln>
          <a:noFill/>
        </a:ln>
        <a:effectLst>
          <a:outerShdw blurRad="57150" dist="19050" dir="5400000" algn="ctr" rotWithShape="0">
            <a:srgbClr val="000000">
              <a:alpha val="63000"/>
            </a:srgbClr>
          </a:outerShdw>
        </a:effectLst>
      </dgm:spPr>
    </dgm:pt>
    <dgm:pt modelId="{DA2081AF-3BAD-4375-9D88-96D67D6D873F}" type="pres">
      <dgm:prSet presAssocID="{BDF7466F-63BF-4789-A1C8-D527437E53D9}" presName="spaceA" presStyleCnt="0"/>
      <dgm:spPr/>
    </dgm:pt>
  </dgm:ptLst>
  <dgm:cxnLst>
    <dgm:cxn modelId="{824A9937-7F4A-446F-A755-E08ED8755ECB}" srcId="{9836EDAB-3B2F-4741-96B1-3EA5CAA55745}" destId="{887548A2-D223-4C68-8424-F4F31AA3CB8F}" srcOrd="5" destOrd="0" parTransId="{0CFEFEB6-60A4-42E4-99F9-52FBA385D7FF}" sibTransId="{1EB662EF-8296-4F7D-9F24-59EAEFB35B93}"/>
    <dgm:cxn modelId="{F472C737-13B2-4E70-B9A7-72C39E6F8D31}" type="presOf" srcId="{BF82CC8A-34DD-4530-80C9-BF3510B1A102}" destId="{A204D498-66B7-46E8-BBBA-1B260353805F}" srcOrd="0" destOrd="0" presId="urn:microsoft.com/office/officeart/2005/8/layout/hProcess11"/>
    <dgm:cxn modelId="{9AEE713E-1D63-4738-BD2D-C8CCA8F2BB86}" type="presOf" srcId="{14BDF10C-8275-4BB3-B68A-C580735E3EE9}" destId="{F64AFA0B-85A8-4A8D-A321-0016DF45854A}" srcOrd="0" destOrd="0" presId="urn:microsoft.com/office/officeart/2005/8/layout/hProcess11"/>
    <dgm:cxn modelId="{94CE3241-550C-4912-BF49-9F89A5A65BCA}" type="presOf" srcId="{A348D179-FB96-48A6-B534-4DA75A367B7B}" destId="{AD6CE318-DBD8-4046-8714-DDAE862C823D}" srcOrd="0" destOrd="0" presId="urn:microsoft.com/office/officeart/2005/8/layout/hProcess11"/>
    <dgm:cxn modelId="{0DEEE842-C119-4240-AA1B-38343FF83740}" type="presOf" srcId="{F95C5DDE-DF0B-4838-94CE-08455096F84F}" destId="{21A6697B-3BE5-4484-A092-BB4B5BF05072}" srcOrd="0" destOrd="0" presId="urn:microsoft.com/office/officeart/2005/8/layout/hProcess11"/>
    <dgm:cxn modelId="{501C2F44-0A76-4E86-8336-A17D022A16BF}" type="presOf" srcId="{9836EDAB-3B2F-4741-96B1-3EA5CAA55745}" destId="{7C5671E1-F915-48A6-9929-06A58E7252FA}" srcOrd="0" destOrd="0" presId="urn:microsoft.com/office/officeart/2005/8/layout/hProcess11"/>
    <dgm:cxn modelId="{4B6A6F46-5426-41B6-A698-98EC18A3FD96}" srcId="{9836EDAB-3B2F-4741-96B1-3EA5CAA55745}" destId="{14BDF10C-8275-4BB3-B68A-C580735E3EE9}" srcOrd="1" destOrd="0" parTransId="{417D13C9-12D2-4909-BA0D-E60239870314}" sibTransId="{46FBEE9E-E8A0-4E69-8A32-363DA5252C44}"/>
    <dgm:cxn modelId="{43603C77-BCA8-452F-8C25-87A4289D44E8}" srcId="{9836EDAB-3B2F-4741-96B1-3EA5CAA55745}" destId="{A348D179-FB96-48A6-B534-4DA75A367B7B}" srcOrd="3" destOrd="0" parTransId="{E3A750E8-1BDE-423A-BECE-C55EFFB1BEC4}" sibTransId="{D0CAF579-1383-4F98-A17C-8A5AC8B8336F}"/>
    <dgm:cxn modelId="{03D39F90-E362-433B-B75A-BB9BDAB52720}" srcId="{9836EDAB-3B2F-4741-96B1-3EA5CAA55745}" destId="{F95C5DDE-DF0B-4838-94CE-08455096F84F}" srcOrd="4" destOrd="0" parTransId="{1D107400-F848-426E-B874-D49F19257206}" sibTransId="{2632C32E-E20A-4D93-A38B-B72502905017}"/>
    <dgm:cxn modelId="{54C3D2A2-BFCF-41D6-8BA2-A046E3F03C90}" srcId="{9836EDAB-3B2F-4741-96B1-3EA5CAA55745}" destId="{1D671937-A379-453C-AF90-557EFBE89B9E}" srcOrd="2" destOrd="0" parTransId="{B676DAFB-5630-43BE-A31E-534984835DE7}" sibTransId="{3050327F-9B31-435A-98B4-85639C7DEB8D}"/>
    <dgm:cxn modelId="{0168CEA6-6F2E-4246-933B-C803CEC657C6}" type="presOf" srcId="{BDF7466F-63BF-4789-A1C8-D527437E53D9}" destId="{7FD0BCFE-DC15-4A55-BC2D-56CE053E80ED}" srcOrd="0" destOrd="0" presId="urn:microsoft.com/office/officeart/2005/8/layout/hProcess11"/>
    <dgm:cxn modelId="{1614EBBE-B67D-4F73-807D-57E27359C3B8}" srcId="{9836EDAB-3B2F-4741-96B1-3EA5CAA55745}" destId="{BDF7466F-63BF-4789-A1C8-D527437E53D9}" srcOrd="6" destOrd="0" parTransId="{AB15E4AC-E59F-45AD-86D9-3DE3AD7E6683}" sibTransId="{823D495B-AC47-41D4-B531-D570C85B03FF}"/>
    <dgm:cxn modelId="{9C710FC6-D800-4AD7-A70D-BB0F01B678A2}" type="presOf" srcId="{887548A2-D223-4C68-8424-F4F31AA3CB8F}" destId="{9C8E4AA6-D4CA-4509-8E66-660D55C0377B}" srcOrd="0" destOrd="0" presId="urn:microsoft.com/office/officeart/2005/8/layout/hProcess11"/>
    <dgm:cxn modelId="{0DF94EF5-4A42-46C6-91B0-4C6DBA67B905}" type="presOf" srcId="{1D671937-A379-453C-AF90-557EFBE89B9E}" destId="{5D5C86D6-B5C0-4E0A-9651-C75E5C0AA546}" srcOrd="0" destOrd="0" presId="urn:microsoft.com/office/officeart/2005/8/layout/hProcess11"/>
    <dgm:cxn modelId="{8D63BFFE-C719-4AC6-85C3-38DA1435442B}" srcId="{9836EDAB-3B2F-4741-96B1-3EA5CAA55745}" destId="{BF82CC8A-34DD-4530-80C9-BF3510B1A102}" srcOrd="0" destOrd="0" parTransId="{D741498A-E6B5-441A-9825-563703A1AF8F}" sibTransId="{7EEC33B4-14A1-4ED0-8776-678DD25A3286}"/>
    <dgm:cxn modelId="{6A4EF707-EE3C-4E7C-BB74-A6CD2771C8E9}" type="presParOf" srcId="{7C5671E1-F915-48A6-9929-06A58E7252FA}" destId="{420AF34D-A3F8-4368-B43C-BE6D0B11394A}" srcOrd="0" destOrd="0" presId="urn:microsoft.com/office/officeart/2005/8/layout/hProcess11"/>
    <dgm:cxn modelId="{C9C188D8-1A2A-4D5F-B4FE-CC90F99D4CB9}" type="presParOf" srcId="{7C5671E1-F915-48A6-9929-06A58E7252FA}" destId="{928D9B02-F865-454B-B86D-AFC55DF0F2FE}" srcOrd="1" destOrd="0" presId="urn:microsoft.com/office/officeart/2005/8/layout/hProcess11"/>
    <dgm:cxn modelId="{5B4D2BF0-6186-43BB-AF05-A38BA63F5726}" type="presParOf" srcId="{928D9B02-F865-454B-B86D-AFC55DF0F2FE}" destId="{73E42C24-A6F1-4213-BDD1-C5E80A3F315B}" srcOrd="0" destOrd="0" presId="urn:microsoft.com/office/officeart/2005/8/layout/hProcess11"/>
    <dgm:cxn modelId="{5CFA9D9B-D001-479E-9F49-BB054B935732}" type="presParOf" srcId="{73E42C24-A6F1-4213-BDD1-C5E80A3F315B}" destId="{A204D498-66B7-46E8-BBBA-1B260353805F}" srcOrd="0" destOrd="0" presId="urn:microsoft.com/office/officeart/2005/8/layout/hProcess11"/>
    <dgm:cxn modelId="{B0C0FF95-07F0-4B6D-89B9-C5130CA2CFD8}" type="presParOf" srcId="{73E42C24-A6F1-4213-BDD1-C5E80A3F315B}" destId="{47C395FF-0B22-4C24-BBD5-F2151A64DDAE}" srcOrd="1" destOrd="0" presId="urn:microsoft.com/office/officeart/2005/8/layout/hProcess11"/>
    <dgm:cxn modelId="{40A4627D-8060-4D82-8C73-CA66998A1637}" type="presParOf" srcId="{73E42C24-A6F1-4213-BDD1-C5E80A3F315B}" destId="{1CC42D5E-13FC-4E7E-B5C5-25D21D75F6B4}" srcOrd="2" destOrd="0" presId="urn:microsoft.com/office/officeart/2005/8/layout/hProcess11"/>
    <dgm:cxn modelId="{1D366502-6488-4F10-B0A2-EF3D5F8CC0F8}" type="presParOf" srcId="{928D9B02-F865-454B-B86D-AFC55DF0F2FE}" destId="{00CA0952-CD32-421A-884C-5019571A810F}" srcOrd="1" destOrd="0" presId="urn:microsoft.com/office/officeart/2005/8/layout/hProcess11"/>
    <dgm:cxn modelId="{231124FE-E7D4-4D7E-A9D7-F0A2FD33AA75}" type="presParOf" srcId="{928D9B02-F865-454B-B86D-AFC55DF0F2FE}" destId="{3A497B27-EE00-4919-9EA0-D9B8C89F70CE}" srcOrd="2" destOrd="0" presId="urn:microsoft.com/office/officeart/2005/8/layout/hProcess11"/>
    <dgm:cxn modelId="{2D789DEA-D119-480C-B14C-17337849ECA1}" type="presParOf" srcId="{3A497B27-EE00-4919-9EA0-D9B8C89F70CE}" destId="{F64AFA0B-85A8-4A8D-A321-0016DF45854A}" srcOrd="0" destOrd="0" presId="urn:microsoft.com/office/officeart/2005/8/layout/hProcess11"/>
    <dgm:cxn modelId="{CD338EEF-4A43-46EA-89F8-AB7C14E7B85C}" type="presParOf" srcId="{3A497B27-EE00-4919-9EA0-D9B8C89F70CE}" destId="{BFDE867C-CB85-4E06-AAA4-0C00DCC39DF5}" srcOrd="1" destOrd="0" presId="urn:microsoft.com/office/officeart/2005/8/layout/hProcess11"/>
    <dgm:cxn modelId="{82AE7242-78E3-4E78-AF11-081B1561E929}" type="presParOf" srcId="{3A497B27-EE00-4919-9EA0-D9B8C89F70CE}" destId="{1BC88733-E1C0-4411-8400-88535B9E67FE}" srcOrd="2" destOrd="0" presId="urn:microsoft.com/office/officeart/2005/8/layout/hProcess11"/>
    <dgm:cxn modelId="{B3F53AA8-8545-4FE0-B924-BFCA363BF0E4}" type="presParOf" srcId="{928D9B02-F865-454B-B86D-AFC55DF0F2FE}" destId="{AAC468FF-978B-49CF-BED6-AE91807F9D19}" srcOrd="3" destOrd="0" presId="urn:microsoft.com/office/officeart/2005/8/layout/hProcess11"/>
    <dgm:cxn modelId="{2F5DB4D6-FE81-4200-A96D-68973A9F12FB}" type="presParOf" srcId="{928D9B02-F865-454B-B86D-AFC55DF0F2FE}" destId="{7E73AE0E-772B-409F-A06D-D374D45FCA99}" srcOrd="4" destOrd="0" presId="urn:microsoft.com/office/officeart/2005/8/layout/hProcess11"/>
    <dgm:cxn modelId="{B50E4223-5C4D-41C6-BA87-9DFA951682AA}" type="presParOf" srcId="{7E73AE0E-772B-409F-A06D-D374D45FCA99}" destId="{5D5C86D6-B5C0-4E0A-9651-C75E5C0AA546}" srcOrd="0" destOrd="0" presId="urn:microsoft.com/office/officeart/2005/8/layout/hProcess11"/>
    <dgm:cxn modelId="{58C7DF31-322A-46CE-9093-7645E47B8CF7}" type="presParOf" srcId="{7E73AE0E-772B-409F-A06D-D374D45FCA99}" destId="{16DBB619-7EA8-42C2-93FF-0E15BEE57614}" srcOrd="1" destOrd="0" presId="urn:microsoft.com/office/officeart/2005/8/layout/hProcess11"/>
    <dgm:cxn modelId="{213FF783-423C-408B-9FC9-B136015D12C6}" type="presParOf" srcId="{7E73AE0E-772B-409F-A06D-D374D45FCA99}" destId="{FD90F373-CBE6-4803-B560-3360D9B57545}" srcOrd="2" destOrd="0" presId="urn:microsoft.com/office/officeart/2005/8/layout/hProcess11"/>
    <dgm:cxn modelId="{EA37FF7A-9CDA-446D-B814-5412A2548BFC}" type="presParOf" srcId="{928D9B02-F865-454B-B86D-AFC55DF0F2FE}" destId="{CCC699A3-CBE6-44C8-9266-E3D302E0EF6B}" srcOrd="5" destOrd="0" presId="urn:microsoft.com/office/officeart/2005/8/layout/hProcess11"/>
    <dgm:cxn modelId="{939C0282-FAF6-4693-804A-024140EF753B}" type="presParOf" srcId="{928D9B02-F865-454B-B86D-AFC55DF0F2FE}" destId="{C6DB7BEF-46A5-45D9-AFDA-E12D61205F8A}" srcOrd="6" destOrd="0" presId="urn:microsoft.com/office/officeart/2005/8/layout/hProcess11"/>
    <dgm:cxn modelId="{62A1B89A-EA1B-452A-A645-900D4DC989E0}" type="presParOf" srcId="{C6DB7BEF-46A5-45D9-AFDA-E12D61205F8A}" destId="{AD6CE318-DBD8-4046-8714-DDAE862C823D}" srcOrd="0" destOrd="0" presId="urn:microsoft.com/office/officeart/2005/8/layout/hProcess11"/>
    <dgm:cxn modelId="{721AD218-DDF0-436F-90BF-6647C3F16849}" type="presParOf" srcId="{C6DB7BEF-46A5-45D9-AFDA-E12D61205F8A}" destId="{C903A79E-CC5B-4D22-88C6-36D47DA6852F}" srcOrd="1" destOrd="0" presId="urn:microsoft.com/office/officeart/2005/8/layout/hProcess11"/>
    <dgm:cxn modelId="{802439FE-C29A-4E37-9B8E-A604ED59937F}" type="presParOf" srcId="{C6DB7BEF-46A5-45D9-AFDA-E12D61205F8A}" destId="{93543C82-5FE1-4921-8D38-C86333C7D918}" srcOrd="2" destOrd="0" presId="urn:microsoft.com/office/officeart/2005/8/layout/hProcess11"/>
    <dgm:cxn modelId="{7D28F53F-FCB1-4830-AAB9-0B62E1CDF52C}" type="presParOf" srcId="{928D9B02-F865-454B-B86D-AFC55DF0F2FE}" destId="{B7A29518-A186-4EB7-8D20-0624C439E85D}" srcOrd="7" destOrd="0" presId="urn:microsoft.com/office/officeart/2005/8/layout/hProcess11"/>
    <dgm:cxn modelId="{B96CA726-2C1F-46B3-A326-21EA5BF59E67}" type="presParOf" srcId="{928D9B02-F865-454B-B86D-AFC55DF0F2FE}" destId="{84BF9B69-C673-440A-AA46-C6ACDE5B4E13}" srcOrd="8" destOrd="0" presId="urn:microsoft.com/office/officeart/2005/8/layout/hProcess11"/>
    <dgm:cxn modelId="{459F2EB2-2BEA-4BE6-8E48-1139413A02C5}" type="presParOf" srcId="{84BF9B69-C673-440A-AA46-C6ACDE5B4E13}" destId="{21A6697B-3BE5-4484-A092-BB4B5BF05072}" srcOrd="0" destOrd="0" presId="urn:microsoft.com/office/officeart/2005/8/layout/hProcess11"/>
    <dgm:cxn modelId="{B3787A36-528D-40D8-BEDC-5FACB44C854C}" type="presParOf" srcId="{84BF9B69-C673-440A-AA46-C6ACDE5B4E13}" destId="{4782BD40-6400-4C3D-B3C7-92390E26AB39}" srcOrd="1" destOrd="0" presId="urn:microsoft.com/office/officeart/2005/8/layout/hProcess11"/>
    <dgm:cxn modelId="{891B147C-DA95-4C89-8C6E-8B7610F0FB59}" type="presParOf" srcId="{84BF9B69-C673-440A-AA46-C6ACDE5B4E13}" destId="{8D8B23E9-5DFE-4521-97E2-43C35F0587BF}" srcOrd="2" destOrd="0" presId="urn:microsoft.com/office/officeart/2005/8/layout/hProcess11"/>
    <dgm:cxn modelId="{8865C987-0A1D-4625-B4B4-CCB12171DF4C}" type="presParOf" srcId="{928D9B02-F865-454B-B86D-AFC55DF0F2FE}" destId="{08155A93-D1B2-4456-B240-A95F5EADE939}" srcOrd="9" destOrd="0" presId="urn:microsoft.com/office/officeart/2005/8/layout/hProcess11"/>
    <dgm:cxn modelId="{77E75927-E283-4E25-A4A7-322B3F974C02}" type="presParOf" srcId="{928D9B02-F865-454B-B86D-AFC55DF0F2FE}" destId="{FEF9C4DA-27D8-4901-BCDF-DC74DF0707FC}" srcOrd="10" destOrd="0" presId="urn:microsoft.com/office/officeart/2005/8/layout/hProcess11"/>
    <dgm:cxn modelId="{DF37E843-F7C0-469A-8979-6D9EC0872997}" type="presParOf" srcId="{FEF9C4DA-27D8-4901-BCDF-DC74DF0707FC}" destId="{9C8E4AA6-D4CA-4509-8E66-660D55C0377B}" srcOrd="0" destOrd="0" presId="urn:microsoft.com/office/officeart/2005/8/layout/hProcess11"/>
    <dgm:cxn modelId="{00376350-87A5-46D1-A11F-819ADAFC47AC}" type="presParOf" srcId="{FEF9C4DA-27D8-4901-BCDF-DC74DF0707FC}" destId="{33365F61-E2B1-4D5B-A70C-7D63D431224A}" srcOrd="1" destOrd="0" presId="urn:microsoft.com/office/officeart/2005/8/layout/hProcess11"/>
    <dgm:cxn modelId="{95B5C6B1-961C-4FBD-BF16-F9DCADFB831D}" type="presParOf" srcId="{FEF9C4DA-27D8-4901-BCDF-DC74DF0707FC}" destId="{307DAC89-56C7-4A02-8E1F-A1F591849683}" srcOrd="2" destOrd="0" presId="urn:microsoft.com/office/officeart/2005/8/layout/hProcess11"/>
    <dgm:cxn modelId="{A7FC5C29-6E17-495A-B419-9D6673A07222}" type="presParOf" srcId="{928D9B02-F865-454B-B86D-AFC55DF0F2FE}" destId="{1FAE0BA7-741E-4296-A000-727C548E81DA}" srcOrd="11" destOrd="0" presId="urn:microsoft.com/office/officeart/2005/8/layout/hProcess11"/>
    <dgm:cxn modelId="{4B3BCEF8-81E9-49C5-8C8B-822B46DEB9FA}" type="presParOf" srcId="{928D9B02-F865-454B-B86D-AFC55DF0F2FE}" destId="{52CA512B-52B1-4E85-AE7A-77452BD7F3A9}" srcOrd="12" destOrd="0" presId="urn:microsoft.com/office/officeart/2005/8/layout/hProcess11"/>
    <dgm:cxn modelId="{EF9F84D3-08F4-40F8-95BD-48F039C9AA14}" type="presParOf" srcId="{52CA512B-52B1-4E85-AE7A-77452BD7F3A9}" destId="{7FD0BCFE-DC15-4A55-BC2D-56CE053E80ED}" srcOrd="0" destOrd="0" presId="urn:microsoft.com/office/officeart/2005/8/layout/hProcess11"/>
    <dgm:cxn modelId="{847B1EE4-2A00-48CD-B565-5FDA9F9DA76A}" type="presParOf" srcId="{52CA512B-52B1-4E85-AE7A-77452BD7F3A9}" destId="{BE8E1D22-6C3D-4E3D-AD80-F197A0897459}" srcOrd="1" destOrd="0" presId="urn:microsoft.com/office/officeart/2005/8/layout/hProcess11"/>
    <dgm:cxn modelId="{A7F426F3-0406-45BD-91E6-27D364BA4DB6}" type="presParOf" srcId="{52CA512B-52B1-4E85-AE7A-77452BD7F3A9}" destId="{DA2081AF-3BAD-4375-9D88-96D67D6D873F}"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0AF34D-A3F8-4368-B43C-BE6D0B11394A}">
      <dsp:nvSpPr>
        <dsp:cNvPr id="0" name=""/>
        <dsp:cNvSpPr/>
      </dsp:nvSpPr>
      <dsp:spPr>
        <a:xfrm>
          <a:off x="0" y="1032837"/>
          <a:ext cx="6128084" cy="1377116"/>
        </a:xfrm>
        <a:prstGeom prst="notchedRightArrow">
          <a:avLst/>
        </a:prstGeom>
        <a:solidFill>
          <a:srgbClr val="FEE485"/>
        </a:solidFill>
        <a:ln>
          <a:noFill/>
        </a:ln>
        <a:effectLst/>
      </dsp:spPr>
      <dsp:style>
        <a:lnRef idx="0">
          <a:scrgbClr r="0" g="0" b="0"/>
        </a:lnRef>
        <a:fillRef idx="1">
          <a:scrgbClr r="0" g="0" b="0"/>
        </a:fillRef>
        <a:effectRef idx="2">
          <a:scrgbClr r="0" g="0" b="0"/>
        </a:effectRef>
        <a:fontRef idx="minor"/>
      </dsp:style>
    </dsp:sp>
    <dsp:sp modelId="{A204D498-66B7-46E8-BBBA-1B260353805F}">
      <dsp:nvSpPr>
        <dsp:cNvPr id="0" name=""/>
        <dsp:cNvSpPr/>
      </dsp:nvSpPr>
      <dsp:spPr>
        <a:xfrm>
          <a:off x="6063" y="226466"/>
          <a:ext cx="769756" cy="1377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pt-BR" sz="1000" kern="1200" dirty="0">
              <a:latin typeface="Crimson Text" pitchFamily="2" charset="0"/>
            </a:rPr>
            <a:t>Nascimento de São Bento de </a:t>
          </a:r>
          <a:r>
            <a:rPr lang="pt-BR" sz="1000" kern="1200" dirty="0" err="1">
              <a:latin typeface="Crimson Text" pitchFamily="2" charset="0"/>
            </a:rPr>
            <a:t>Núrsia</a:t>
          </a:r>
          <a:r>
            <a:rPr lang="pt-BR" sz="1000" kern="1200" dirty="0">
              <a:latin typeface="Crimson Text" pitchFamily="2" charset="0"/>
            </a:rPr>
            <a:t>           480  </a:t>
          </a:r>
        </a:p>
      </dsp:txBody>
      <dsp:txXfrm>
        <a:off x="6063" y="226466"/>
        <a:ext cx="769756" cy="1377116"/>
      </dsp:txXfrm>
    </dsp:sp>
    <dsp:sp modelId="{47C395FF-0B22-4C24-BBD5-F2151A64DDAE}">
      <dsp:nvSpPr>
        <dsp:cNvPr id="0" name=""/>
        <dsp:cNvSpPr/>
      </dsp:nvSpPr>
      <dsp:spPr>
        <a:xfrm>
          <a:off x="214571" y="1549256"/>
          <a:ext cx="344279" cy="344279"/>
        </a:xfrm>
        <a:prstGeom prst="ellipse">
          <a:avLst/>
        </a:prstGeom>
        <a:gradFill flip="none" rotWithShape="1">
          <a:gsLst>
            <a:gs pos="0">
              <a:srgbClr val="CA8335"/>
            </a:gs>
            <a:gs pos="50000">
              <a:srgbClr val="8A4E1C"/>
            </a:gs>
            <a:gs pos="100000">
              <a:srgbClr val="74360D"/>
            </a:gs>
          </a:gsLst>
          <a:lin ang="16200000" scaled="1"/>
          <a:tileRect/>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64AFA0B-85A8-4A8D-A321-0016DF45854A}">
      <dsp:nvSpPr>
        <dsp:cNvPr id="0" name=""/>
        <dsp:cNvSpPr/>
      </dsp:nvSpPr>
      <dsp:spPr>
        <a:xfrm>
          <a:off x="806262" y="1366333"/>
          <a:ext cx="693448" cy="1377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pt-BR" sz="1000" kern="1200" dirty="0">
              <a:solidFill>
                <a:prstClr val="black">
                  <a:hueOff val="0"/>
                  <a:satOff val="0"/>
                  <a:lumOff val="0"/>
                  <a:alphaOff val="0"/>
                </a:prstClr>
              </a:solidFill>
              <a:latin typeface="Crimson Text" pitchFamily="2" charset="0"/>
              <a:ea typeface="+mn-ea"/>
              <a:cs typeface="+mn-cs"/>
            </a:rPr>
            <a:t>529    Fundação do Mosteiro de Monte Cassino</a:t>
          </a:r>
        </a:p>
      </dsp:txBody>
      <dsp:txXfrm>
        <a:off x="806262" y="1366333"/>
        <a:ext cx="693448" cy="1377116"/>
      </dsp:txXfrm>
    </dsp:sp>
    <dsp:sp modelId="{BFDE867C-CB85-4E06-AAA4-0C00DCC39DF5}">
      <dsp:nvSpPr>
        <dsp:cNvPr id="0" name=""/>
        <dsp:cNvSpPr/>
      </dsp:nvSpPr>
      <dsp:spPr>
        <a:xfrm>
          <a:off x="980846" y="1549256"/>
          <a:ext cx="344279" cy="344279"/>
        </a:xfrm>
        <a:prstGeom prst="ellipse">
          <a:avLst/>
        </a:prstGeom>
        <a:gradFill flip="none" rotWithShape="1">
          <a:gsLst>
            <a:gs pos="0">
              <a:srgbClr val="CA8335"/>
            </a:gs>
            <a:gs pos="50000">
              <a:srgbClr val="8A4E1C"/>
            </a:gs>
            <a:gs pos="100000">
              <a:srgbClr val="74360D"/>
            </a:gs>
          </a:gsLst>
          <a:lin ang="16200000" scaled="1"/>
          <a:tileRect/>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5D5C86D6-B5C0-4E0A-9651-C75E5C0AA546}">
      <dsp:nvSpPr>
        <dsp:cNvPr id="0" name=""/>
        <dsp:cNvSpPr/>
      </dsp:nvSpPr>
      <dsp:spPr>
        <a:xfrm>
          <a:off x="1534383" y="238929"/>
          <a:ext cx="693448" cy="1377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pt-BR" sz="1000" kern="1200" dirty="0">
              <a:solidFill>
                <a:prstClr val="black">
                  <a:hueOff val="0"/>
                  <a:satOff val="0"/>
                  <a:lumOff val="0"/>
                  <a:alphaOff val="0"/>
                </a:prstClr>
              </a:solidFill>
              <a:latin typeface="Crimson Text" pitchFamily="2" charset="0"/>
              <a:ea typeface="+mn-ea"/>
              <a:cs typeface="+mn-cs"/>
            </a:rPr>
            <a:t>Morte de São Bento           547</a:t>
          </a:r>
        </a:p>
      </dsp:txBody>
      <dsp:txXfrm>
        <a:off x="1534383" y="238929"/>
        <a:ext cx="693448" cy="1377116"/>
      </dsp:txXfrm>
    </dsp:sp>
    <dsp:sp modelId="{16DBB619-7EA8-42C2-93FF-0E15BEE57614}">
      <dsp:nvSpPr>
        <dsp:cNvPr id="0" name=""/>
        <dsp:cNvSpPr/>
      </dsp:nvSpPr>
      <dsp:spPr>
        <a:xfrm>
          <a:off x="1708968" y="1549256"/>
          <a:ext cx="344279" cy="344279"/>
        </a:xfrm>
        <a:prstGeom prst="ellipse">
          <a:avLst/>
        </a:prstGeom>
        <a:gradFill flip="none" rotWithShape="1">
          <a:gsLst>
            <a:gs pos="0">
              <a:srgbClr val="CA8335"/>
            </a:gs>
            <a:gs pos="50000">
              <a:srgbClr val="8A4E1C"/>
            </a:gs>
            <a:gs pos="100000">
              <a:srgbClr val="74360D"/>
            </a:gs>
          </a:gsLst>
          <a:lin ang="16200000" scaled="1"/>
          <a:tileRect/>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D6CE318-DBD8-4046-8714-DDAE862C823D}">
      <dsp:nvSpPr>
        <dsp:cNvPr id="0" name=""/>
        <dsp:cNvSpPr/>
      </dsp:nvSpPr>
      <dsp:spPr>
        <a:xfrm>
          <a:off x="2262504" y="1855182"/>
          <a:ext cx="693448" cy="1377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pt-BR" sz="1000" kern="1200" dirty="0">
              <a:solidFill>
                <a:prstClr val="black">
                  <a:hueOff val="0"/>
                  <a:satOff val="0"/>
                  <a:lumOff val="0"/>
                  <a:alphaOff val="0"/>
                </a:prstClr>
              </a:solidFill>
              <a:latin typeface="Crimson Text" pitchFamily="2" charset="0"/>
              <a:ea typeface="+mn-ea"/>
              <a:cs typeface="+mn-cs"/>
            </a:rPr>
            <a:t>Séc. VII – X  Expansão Beneditina pela Europa</a:t>
          </a:r>
        </a:p>
      </dsp:txBody>
      <dsp:txXfrm>
        <a:off x="2262504" y="1855182"/>
        <a:ext cx="693448" cy="1377116"/>
      </dsp:txXfrm>
    </dsp:sp>
    <dsp:sp modelId="{C903A79E-CC5B-4D22-88C6-36D47DA6852F}">
      <dsp:nvSpPr>
        <dsp:cNvPr id="0" name=""/>
        <dsp:cNvSpPr/>
      </dsp:nvSpPr>
      <dsp:spPr>
        <a:xfrm>
          <a:off x="2437089" y="1549256"/>
          <a:ext cx="344279" cy="344279"/>
        </a:xfrm>
        <a:prstGeom prst="ellipse">
          <a:avLst/>
        </a:prstGeom>
        <a:gradFill flip="none" rotWithShape="1">
          <a:gsLst>
            <a:gs pos="0">
              <a:srgbClr val="CA8335"/>
            </a:gs>
            <a:gs pos="50000">
              <a:srgbClr val="8A4E1C"/>
            </a:gs>
            <a:gs pos="100000">
              <a:srgbClr val="74360D"/>
            </a:gs>
          </a:gsLst>
          <a:lin ang="16200000" scaled="1"/>
          <a:tileRect/>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1A6697B-3BE5-4484-A092-BB4B5BF05072}">
      <dsp:nvSpPr>
        <dsp:cNvPr id="0" name=""/>
        <dsp:cNvSpPr/>
      </dsp:nvSpPr>
      <dsp:spPr>
        <a:xfrm>
          <a:off x="2990626" y="226673"/>
          <a:ext cx="693448" cy="1377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pt-BR" sz="1000" kern="1200" dirty="0">
              <a:solidFill>
                <a:prstClr val="black">
                  <a:hueOff val="0"/>
                  <a:satOff val="0"/>
                  <a:lumOff val="0"/>
                  <a:alphaOff val="0"/>
                </a:prstClr>
              </a:solidFill>
              <a:latin typeface="Crimson Text" pitchFamily="2" charset="0"/>
              <a:ea typeface="+mn-ea"/>
              <a:cs typeface="+mn-cs"/>
            </a:rPr>
            <a:t>Reforma de </a:t>
          </a:r>
          <a:r>
            <a:rPr lang="pt-BR" sz="1000" kern="1200" dirty="0" err="1">
              <a:solidFill>
                <a:prstClr val="black">
                  <a:hueOff val="0"/>
                  <a:satOff val="0"/>
                  <a:lumOff val="0"/>
                  <a:alphaOff val="0"/>
                </a:prstClr>
              </a:solidFill>
              <a:latin typeface="Crimson Text" pitchFamily="2" charset="0"/>
              <a:ea typeface="+mn-ea"/>
              <a:cs typeface="+mn-cs"/>
            </a:rPr>
            <a:t>Cluny</a:t>
          </a:r>
          <a:r>
            <a:rPr lang="pt-BR" sz="1000" kern="1200" dirty="0">
              <a:solidFill>
                <a:prstClr val="black">
                  <a:hueOff val="0"/>
                  <a:satOff val="0"/>
                  <a:lumOff val="0"/>
                  <a:alphaOff val="0"/>
                </a:prstClr>
              </a:solidFill>
              <a:latin typeface="Crimson Text" pitchFamily="2" charset="0"/>
              <a:ea typeface="+mn-ea"/>
              <a:cs typeface="+mn-cs"/>
            </a:rPr>
            <a:t>      910</a:t>
          </a:r>
        </a:p>
      </dsp:txBody>
      <dsp:txXfrm>
        <a:off x="2990626" y="226673"/>
        <a:ext cx="693448" cy="1377116"/>
      </dsp:txXfrm>
    </dsp:sp>
    <dsp:sp modelId="{4782BD40-6400-4C3D-B3C7-92390E26AB39}">
      <dsp:nvSpPr>
        <dsp:cNvPr id="0" name=""/>
        <dsp:cNvSpPr/>
      </dsp:nvSpPr>
      <dsp:spPr>
        <a:xfrm>
          <a:off x="3165211" y="1549256"/>
          <a:ext cx="344279" cy="344279"/>
        </a:xfrm>
        <a:prstGeom prst="ellipse">
          <a:avLst/>
        </a:prstGeom>
        <a:gradFill flip="none" rotWithShape="1">
          <a:gsLst>
            <a:gs pos="0">
              <a:srgbClr val="CA8335"/>
            </a:gs>
            <a:gs pos="50000">
              <a:srgbClr val="8A4E1C"/>
            </a:gs>
            <a:gs pos="100000">
              <a:srgbClr val="74360D"/>
            </a:gs>
          </a:gsLst>
          <a:lin ang="16200000" scaled="1"/>
          <a:tileRect/>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C8E4AA6-D4CA-4509-8E66-660D55C0377B}">
      <dsp:nvSpPr>
        <dsp:cNvPr id="0" name=""/>
        <dsp:cNvSpPr/>
      </dsp:nvSpPr>
      <dsp:spPr>
        <a:xfrm>
          <a:off x="3718747" y="1855182"/>
          <a:ext cx="784956" cy="1377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t" anchorCtr="0">
          <a:noAutofit/>
        </a:bodyPr>
        <a:lstStyle/>
        <a:p>
          <a:pPr marL="0" lvl="0" indent="0" algn="ctr" defTabSz="444500">
            <a:lnSpc>
              <a:spcPct val="90000"/>
            </a:lnSpc>
            <a:spcBef>
              <a:spcPct val="0"/>
            </a:spcBef>
            <a:spcAft>
              <a:spcPct val="35000"/>
            </a:spcAft>
            <a:buNone/>
          </a:pPr>
          <a:r>
            <a:rPr lang="pt-BR" sz="1000" kern="1200" dirty="0">
              <a:solidFill>
                <a:prstClr val="black">
                  <a:hueOff val="0"/>
                  <a:satOff val="0"/>
                  <a:lumOff val="0"/>
                  <a:alphaOff val="0"/>
                </a:prstClr>
              </a:solidFill>
              <a:latin typeface="Crimson Text" pitchFamily="2" charset="0"/>
              <a:ea typeface="+mn-ea"/>
              <a:cs typeface="+mn-cs"/>
            </a:rPr>
            <a:t>1098 Fundação dos </a:t>
          </a:r>
          <a:r>
            <a:rPr lang="pt-BR" sz="1000" kern="1200" dirty="0" err="1">
              <a:solidFill>
                <a:prstClr val="black">
                  <a:hueOff val="0"/>
                  <a:satOff val="0"/>
                  <a:lumOff val="0"/>
                  <a:alphaOff val="0"/>
                </a:prstClr>
              </a:solidFill>
              <a:latin typeface="Crimson Text" pitchFamily="2" charset="0"/>
              <a:ea typeface="+mn-ea"/>
              <a:cs typeface="+mn-cs"/>
            </a:rPr>
            <a:t>Cistircienses</a:t>
          </a:r>
          <a:endParaRPr lang="pt-BR" sz="1000" kern="1200" dirty="0">
            <a:solidFill>
              <a:prstClr val="black">
                <a:hueOff val="0"/>
                <a:satOff val="0"/>
                <a:lumOff val="0"/>
                <a:alphaOff val="0"/>
              </a:prstClr>
            </a:solidFill>
            <a:latin typeface="Crimson Text" pitchFamily="2" charset="0"/>
            <a:ea typeface="+mn-ea"/>
            <a:cs typeface="+mn-cs"/>
          </a:endParaRPr>
        </a:p>
      </dsp:txBody>
      <dsp:txXfrm>
        <a:off x="3718747" y="1855182"/>
        <a:ext cx="784956" cy="1377116"/>
      </dsp:txXfrm>
    </dsp:sp>
    <dsp:sp modelId="{33365F61-E2B1-4D5B-A70C-7D63D431224A}">
      <dsp:nvSpPr>
        <dsp:cNvPr id="0" name=""/>
        <dsp:cNvSpPr/>
      </dsp:nvSpPr>
      <dsp:spPr>
        <a:xfrm>
          <a:off x="3939086" y="1549256"/>
          <a:ext cx="344279" cy="344279"/>
        </a:xfrm>
        <a:prstGeom prst="ellipse">
          <a:avLst/>
        </a:prstGeom>
        <a:gradFill flip="none" rotWithShape="1">
          <a:gsLst>
            <a:gs pos="0">
              <a:srgbClr val="CA8335"/>
            </a:gs>
            <a:gs pos="50000">
              <a:srgbClr val="8A4E1C"/>
            </a:gs>
            <a:gs pos="100000">
              <a:srgbClr val="74360D"/>
            </a:gs>
          </a:gsLst>
          <a:lin ang="16200000" scaled="1"/>
          <a:tileRect/>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FD0BCFE-DC15-4A55-BC2D-56CE053E80ED}">
      <dsp:nvSpPr>
        <dsp:cNvPr id="0" name=""/>
        <dsp:cNvSpPr/>
      </dsp:nvSpPr>
      <dsp:spPr>
        <a:xfrm>
          <a:off x="4538376" y="226673"/>
          <a:ext cx="975065" cy="13771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120" tIns="71120" rIns="71120" bIns="71120" numCol="1" spcCol="1270" anchor="b" anchorCtr="0">
          <a:noAutofit/>
        </a:bodyPr>
        <a:lstStyle/>
        <a:p>
          <a:pPr marL="0" lvl="0" indent="0" algn="ctr" defTabSz="444500">
            <a:lnSpc>
              <a:spcPct val="90000"/>
            </a:lnSpc>
            <a:spcBef>
              <a:spcPct val="0"/>
            </a:spcBef>
            <a:spcAft>
              <a:spcPct val="35000"/>
            </a:spcAft>
            <a:buNone/>
          </a:pPr>
          <a:r>
            <a:rPr lang="pt-BR" sz="1000" kern="1200" dirty="0">
              <a:solidFill>
                <a:prstClr val="black">
                  <a:hueOff val="0"/>
                  <a:satOff val="0"/>
                  <a:lumOff val="0"/>
                  <a:alphaOff val="0"/>
                </a:prstClr>
              </a:solidFill>
              <a:latin typeface="Crimson Text" pitchFamily="2" charset="0"/>
              <a:ea typeface="+mn-ea"/>
              <a:cs typeface="+mn-cs"/>
            </a:rPr>
            <a:t>Mosteiros ativos no mundo, evangelizando por meio de oração e do trabalho         Sec. XXI</a:t>
          </a:r>
        </a:p>
      </dsp:txBody>
      <dsp:txXfrm>
        <a:off x="4538376" y="226673"/>
        <a:ext cx="975065" cy="1377116"/>
      </dsp:txXfrm>
    </dsp:sp>
    <dsp:sp modelId="{BE8E1D22-6C3D-4E3D-AD80-F197A0897459}">
      <dsp:nvSpPr>
        <dsp:cNvPr id="0" name=""/>
        <dsp:cNvSpPr/>
      </dsp:nvSpPr>
      <dsp:spPr>
        <a:xfrm>
          <a:off x="4853769" y="1549256"/>
          <a:ext cx="344279" cy="344279"/>
        </a:xfrm>
        <a:prstGeom prst="ellipse">
          <a:avLst/>
        </a:prstGeom>
        <a:gradFill flip="none" rotWithShape="1">
          <a:gsLst>
            <a:gs pos="0">
              <a:srgbClr val="CA8335"/>
            </a:gs>
            <a:gs pos="50000">
              <a:srgbClr val="8A4E1C"/>
            </a:gs>
            <a:gs pos="100000">
              <a:srgbClr val="74360D"/>
            </a:gs>
          </a:gsLst>
          <a:lin ang="16200000" scaled="1"/>
          <a:tileRect/>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1:54:04.575"/>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1:54:53.185"/>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1:55:22.814"/>
    </inkml:context>
    <inkml:brush xml:id="br0">
      <inkml:brushProperty name="width" value="0.035" units="cm"/>
      <inkml:brushProperty name="height" value="0.03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2AF963-CB58-4DBB-9DC9-DB24F1E9FC18}" type="datetimeFigureOut">
              <a:rPr lang="pt-BR" smtClean="0"/>
              <a:t>17/11/2025</a:t>
            </a:fld>
            <a:endParaRPr lang="pt-BR"/>
          </a:p>
        </p:txBody>
      </p:sp>
      <p:sp>
        <p:nvSpPr>
          <p:cNvPr id="4" name="Espaço Reservado para Imagem de Slide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14D7F3-1FAE-4C3E-A4BB-E503008047DE}" type="slidenum">
              <a:rPr lang="pt-BR" smtClean="0"/>
              <a:t>‹nº›</a:t>
            </a:fld>
            <a:endParaRPr lang="pt-BR"/>
          </a:p>
        </p:txBody>
      </p:sp>
    </p:spTree>
    <p:extLst>
      <p:ext uri="{BB962C8B-B14F-4D97-AF65-F5344CB8AC3E}">
        <p14:creationId xmlns:p14="http://schemas.microsoft.com/office/powerpoint/2010/main" val="849728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pt-BR"/>
              <a:t>Clique para editar o título Mestre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AF1369BD-ACD6-4929-8F83-970ECA243699}" type="datetime1">
              <a:rPr lang="pt-BR" smtClean="0"/>
              <a:t>17/11/2025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A399360-F993-465D-8DB3-70366CB522FF}" type="slidenum">
              <a:rPr lang="pt-BR" smtClean="0"/>
              <a:t>‹nº›</a:t>
            </a:fld>
            <a:endParaRPr lang="pt-BR"/>
          </a:p>
        </p:txBody>
      </p:sp>
    </p:spTree>
    <p:extLst>
      <p:ext uri="{BB962C8B-B14F-4D97-AF65-F5344CB8AC3E}">
        <p14:creationId xmlns:p14="http://schemas.microsoft.com/office/powerpoint/2010/main" val="4237470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4256CAA-C455-451B-9E27-C73526E029E1}" type="datetime1">
              <a:rPr lang="pt-BR" smtClean="0"/>
              <a:t>17/11/2025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A399360-F993-465D-8DB3-70366CB522FF}" type="slidenum">
              <a:rPr lang="pt-BR" smtClean="0"/>
              <a:t>‹nº›</a:t>
            </a:fld>
            <a:endParaRPr lang="pt-BR"/>
          </a:p>
        </p:txBody>
      </p:sp>
    </p:spTree>
    <p:extLst>
      <p:ext uri="{BB962C8B-B14F-4D97-AF65-F5344CB8AC3E}">
        <p14:creationId xmlns:p14="http://schemas.microsoft.com/office/powerpoint/2010/main" val="1872353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pt-BR"/>
              <a:t>Clique para editar o título Mestre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FC4D346F-2D7B-4E6C-B62C-1AE3E8E6A1CF}" type="datetime1">
              <a:rPr lang="pt-BR" smtClean="0"/>
              <a:t>17/11/2025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A399360-F993-465D-8DB3-70366CB522FF}" type="slidenum">
              <a:rPr lang="pt-BR" smtClean="0"/>
              <a:t>‹nº›</a:t>
            </a:fld>
            <a:endParaRPr lang="pt-BR"/>
          </a:p>
        </p:txBody>
      </p:sp>
    </p:spTree>
    <p:extLst>
      <p:ext uri="{BB962C8B-B14F-4D97-AF65-F5344CB8AC3E}">
        <p14:creationId xmlns:p14="http://schemas.microsoft.com/office/powerpoint/2010/main" val="3752999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F76DA8E3-4DEE-41CF-92F3-AF08FFEEDA84}" type="datetime1">
              <a:rPr lang="pt-BR" smtClean="0"/>
              <a:t>17/11/2025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9A399360-F993-465D-8DB3-70366CB522FF}" type="slidenum">
              <a:rPr lang="pt-BR" smtClean="0"/>
              <a:t>‹nº›</a:t>
            </a:fld>
            <a:endParaRPr lang="pt-BR"/>
          </a:p>
        </p:txBody>
      </p:sp>
    </p:spTree>
    <p:extLst>
      <p:ext uri="{BB962C8B-B14F-4D97-AF65-F5344CB8AC3E}">
        <p14:creationId xmlns:p14="http://schemas.microsoft.com/office/powerpoint/2010/main" val="3485719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4" name="Content Placeholder 3"/>
          <p:cNvSpPr>
            <a:spLocks noGrp="1"/>
          </p:cNvSpPr>
          <p:nvPr>
            <p:ph sz="half" idx="2"/>
          </p:nvPr>
        </p:nvSpPr>
        <p:spPr>
          <a:xfrm>
            <a:off x="472381" y="3618442"/>
            <a:ext cx="2901255" cy="532218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6" name="Content Placeholder 5"/>
          <p:cNvSpPr>
            <a:spLocks noGrp="1"/>
          </p:cNvSpPr>
          <p:nvPr>
            <p:ph sz="quarter" idx="4"/>
          </p:nvPr>
        </p:nvSpPr>
        <p:spPr>
          <a:xfrm>
            <a:off x="3471863" y="3618442"/>
            <a:ext cx="2915543" cy="532218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64A2F39A-2361-4CE7-BF3F-01F17CC2DB47}" type="datetime1">
              <a:rPr lang="pt-BR" smtClean="0"/>
              <a:t>17/11/2025</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9A399360-F993-465D-8DB3-70366CB522FF}" type="slidenum">
              <a:rPr lang="pt-BR" smtClean="0"/>
              <a:t>‹nº›</a:t>
            </a:fld>
            <a:endParaRPr lang="pt-BR"/>
          </a:p>
        </p:txBody>
      </p:sp>
    </p:spTree>
    <p:extLst>
      <p:ext uri="{BB962C8B-B14F-4D97-AF65-F5344CB8AC3E}">
        <p14:creationId xmlns:p14="http://schemas.microsoft.com/office/powerpoint/2010/main" val="3384367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70972000-D510-45E5-A950-E2ED0D55C508}" type="datetime1">
              <a:rPr lang="pt-BR" smtClean="0"/>
              <a:t>17/11/2025</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9A399360-F993-465D-8DB3-70366CB522FF}" type="slidenum">
              <a:rPr lang="pt-BR" smtClean="0"/>
              <a:t>‹nº›</a:t>
            </a:fld>
            <a:endParaRPr lang="pt-BR"/>
          </a:p>
        </p:txBody>
      </p:sp>
    </p:spTree>
    <p:extLst>
      <p:ext uri="{BB962C8B-B14F-4D97-AF65-F5344CB8AC3E}">
        <p14:creationId xmlns:p14="http://schemas.microsoft.com/office/powerpoint/2010/main" val="2263610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D3EC4B-5033-4AE7-A7AE-CC098B0AF900}" type="datetime1">
              <a:rPr lang="pt-BR" smtClean="0"/>
              <a:t>17/11/2025</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9A399360-F993-465D-8DB3-70366CB522FF}" type="slidenum">
              <a:rPr lang="pt-BR" smtClean="0"/>
              <a:t>‹nº›</a:t>
            </a:fld>
            <a:endParaRPr lang="pt-BR"/>
          </a:p>
        </p:txBody>
      </p:sp>
    </p:spTree>
    <p:extLst>
      <p:ext uri="{BB962C8B-B14F-4D97-AF65-F5344CB8AC3E}">
        <p14:creationId xmlns:p14="http://schemas.microsoft.com/office/powerpoint/2010/main" val="2971093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pt-BR"/>
              <a:t>Clique para editar o título Mestre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FDB977D-839B-4E98-8808-6526E67315C7}" type="datetime1">
              <a:rPr lang="pt-BR" smtClean="0"/>
              <a:t>17/11/2025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9A399360-F993-465D-8DB3-70366CB522FF}" type="slidenum">
              <a:rPr lang="pt-BR" smtClean="0"/>
              <a:t>‹nº›</a:t>
            </a:fld>
            <a:endParaRPr lang="pt-BR"/>
          </a:p>
        </p:txBody>
      </p:sp>
    </p:spTree>
    <p:extLst>
      <p:ext uri="{BB962C8B-B14F-4D97-AF65-F5344CB8AC3E}">
        <p14:creationId xmlns:p14="http://schemas.microsoft.com/office/powerpoint/2010/main" val="2935672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pt-BR"/>
              <a:t>Clique no ícone para adicionar uma imagem</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BB122065-FA84-4769-BC5B-2A04E16CC43C}" type="datetime1">
              <a:rPr lang="pt-BR" smtClean="0"/>
              <a:t>17/11/2025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9A399360-F993-465D-8DB3-70366CB522FF}" type="slidenum">
              <a:rPr lang="pt-BR" smtClean="0"/>
              <a:t>‹nº›</a:t>
            </a:fld>
            <a:endParaRPr lang="pt-BR"/>
          </a:p>
        </p:txBody>
      </p:sp>
    </p:spTree>
    <p:extLst>
      <p:ext uri="{BB962C8B-B14F-4D97-AF65-F5344CB8AC3E}">
        <p14:creationId xmlns:p14="http://schemas.microsoft.com/office/powerpoint/2010/main" val="2772674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99070F68-573A-4A08-8A30-5D3B841E17D5}" type="datetime1">
              <a:rPr lang="pt-BR" smtClean="0"/>
              <a:t>17/11/2025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A399360-F993-465D-8DB3-70366CB522FF}" type="slidenum">
              <a:rPr lang="pt-BR" smtClean="0"/>
              <a:t>‹nº›</a:t>
            </a:fld>
            <a:endParaRPr lang="pt-BR"/>
          </a:p>
        </p:txBody>
      </p:sp>
    </p:spTree>
    <p:extLst>
      <p:ext uri="{BB962C8B-B14F-4D97-AF65-F5344CB8AC3E}">
        <p14:creationId xmlns:p14="http://schemas.microsoft.com/office/powerpoint/2010/main" val="3019783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33FC4BF0-5E0D-4B74-BAD6-E618C3B62ABC}" type="datetime1">
              <a:rPr lang="pt-BR" smtClean="0"/>
              <a:t>17/11/2025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9A399360-F993-465D-8DB3-70366CB522FF}" type="slidenum">
              <a:rPr lang="pt-BR" smtClean="0"/>
              <a:t>‹nº›</a:t>
            </a:fld>
            <a:endParaRPr lang="pt-BR"/>
          </a:p>
        </p:txBody>
      </p:sp>
    </p:spTree>
    <p:extLst>
      <p:ext uri="{BB962C8B-B14F-4D97-AF65-F5344CB8AC3E}">
        <p14:creationId xmlns:p14="http://schemas.microsoft.com/office/powerpoint/2010/main" val="3828722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0AE4E4E5-6D23-485E-8AA0-4FA44C71AA52}" type="datetime1">
              <a:rPr lang="pt-BR" smtClean="0"/>
              <a:t>17/11/2025</a:t>
            </a:fld>
            <a:endParaRPr lang="pt-BR"/>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9A399360-F993-465D-8DB3-70366CB522FF}" type="slidenum">
              <a:rPr lang="pt-BR" smtClean="0"/>
              <a:t>‹nº›</a:t>
            </a:fld>
            <a:endParaRPr lang="pt-BR"/>
          </a:p>
        </p:txBody>
      </p:sp>
    </p:spTree>
    <p:extLst>
      <p:ext uri="{BB962C8B-B14F-4D97-AF65-F5344CB8AC3E}">
        <p14:creationId xmlns:p14="http://schemas.microsoft.com/office/powerpoint/2010/main" val="2926214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customXml" Target="../ink/ink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m 11">
            <a:extLst>
              <a:ext uri="{FF2B5EF4-FFF2-40B4-BE49-F238E27FC236}">
                <a16:creationId xmlns:a16="http://schemas.microsoft.com/office/drawing/2014/main" id="{BFF4711F-376E-C933-245C-3E93DD4261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9906000"/>
          </a:xfrm>
          <a:prstGeom prst="rect">
            <a:avLst/>
          </a:prstGeom>
        </p:spPr>
      </p:pic>
      <p:sp>
        <p:nvSpPr>
          <p:cNvPr id="9" name="CaixaDeTexto 8">
            <a:extLst>
              <a:ext uri="{FF2B5EF4-FFF2-40B4-BE49-F238E27FC236}">
                <a16:creationId xmlns:a16="http://schemas.microsoft.com/office/drawing/2014/main" id="{5C322E30-A8B3-4272-265E-4F56369348A2}"/>
              </a:ext>
            </a:extLst>
          </p:cNvPr>
          <p:cNvSpPr txBox="1"/>
          <p:nvPr/>
        </p:nvSpPr>
        <p:spPr>
          <a:xfrm>
            <a:off x="-105365" y="160421"/>
            <a:ext cx="7068730" cy="830997"/>
          </a:xfrm>
          <a:prstGeom prst="rect">
            <a:avLst/>
          </a:prstGeom>
          <a:noFill/>
        </p:spPr>
        <p:txBody>
          <a:bodyPr wrap="none" rtlCol="0">
            <a:spAutoFit/>
          </a:bodyPr>
          <a:lstStyle/>
          <a:p>
            <a:pPr algn="ctr"/>
            <a:r>
              <a:rPr lang="pt-BR" sz="4400" dirty="0">
                <a:solidFill>
                  <a:schemeClr val="bg1"/>
                </a:solidFill>
                <a:latin typeface="Cinzel" panose="00000500000000000000" pitchFamily="50" charset="0"/>
              </a:rPr>
              <a:t>Estandartes de </a:t>
            </a:r>
            <a:r>
              <a:rPr lang="pt-BR" sz="4800" dirty="0">
                <a:solidFill>
                  <a:schemeClr val="bg1"/>
                </a:solidFill>
                <a:latin typeface="Cinzel" panose="00000500000000000000" pitchFamily="50" charset="0"/>
              </a:rPr>
              <a:t>Cristo</a:t>
            </a:r>
            <a:endParaRPr lang="pt-BR" sz="4400" dirty="0">
              <a:solidFill>
                <a:schemeClr val="bg1"/>
              </a:solidFill>
              <a:latin typeface="Cinzel" panose="00000500000000000000" pitchFamily="50" charset="0"/>
            </a:endParaRPr>
          </a:p>
        </p:txBody>
      </p:sp>
      <p:sp>
        <p:nvSpPr>
          <p:cNvPr id="2" name="CaixaDeTexto 1">
            <a:extLst>
              <a:ext uri="{FF2B5EF4-FFF2-40B4-BE49-F238E27FC236}">
                <a16:creationId xmlns:a16="http://schemas.microsoft.com/office/drawing/2014/main" id="{12B9DD04-A6A5-00C2-EB4A-961279B224FF}"/>
              </a:ext>
            </a:extLst>
          </p:cNvPr>
          <p:cNvSpPr txBox="1"/>
          <p:nvPr/>
        </p:nvSpPr>
        <p:spPr>
          <a:xfrm>
            <a:off x="1029945" y="1151839"/>
            <a:ext cx="4798109" cy="461665"/>
          </a:xfrm>
          <a:prstGeom prst="rect">
            <a:avLst/>
          </a:prstGeom>
          <a:noFill/>
        </p:spPr>
        <p:txBody>
          <a:bodyPr wrap="none" rtlCol="0">
            <a:spAutoFit/>
          </a:bodyPr>
          <a:lstStyle/>
          <a:p>
            <a:pPr algn="ctr"/>
            <a:r>
              <a:rPr lang="pt-BR" sz="2400" dirty="0">
                <a:solidFill>
                  <a:schemeClr val="bg1"/>
                </a:solidFill>
                <a:latin typeface="Crimson Text" pitchFamily="2" charset="0"/>
              </a:rPr>
              <a:t>Uma Viagem pelas Famílias Religiosas</a:t>
            </a:r>
          </a:p>
        </p:txBody>
      </p:sp>
      <mc:AlternateContent xmlns:mc="http://schemas.openxmlformats.org/markup-compatibility/2006" xmlns:p14="http://schemas.microsoft.com/office/powerpoint/2010/main">
        <mc:Choice Requires="p14">
          <p:contentPart p14:bwMode="auto" r:id="rId3">
            <p14:nvContentPartPr>
              <p14:cNvPr id="3" name="Tinta 2">
                <a:extLst>
                  <a:ext uri="{FF2B5EF4-FFF2-40B4-BE49-F238E27FC236}">
                    <a16:creationId xmlns:a16="http://schemas.microsoft.com/office/drawing/2014/main" id="{49CBC9CF-7A8A-0447-BCBB-826A54D7460D}"/>
                  </a:ext>
                </a:extLst>
              </p14:cNvPr>
              <p14:cNvContentPartPr/>
              <p14:nvPr/>
            </p14:nvContentPartPr>
            <p14:xfrm>
              <a:off x="-2005560" y="2133366"/>
              <a:ext cx="360" cy="360"/>
            </p14:xfrm>
          </p:contentPart>
        </mc:Choice>
        <mc:Fallback xmlns="">
          <p:pic>
            <p:nvPicPr>
              <p:cNvPr id="3" name="Tinta 2">
                <a:extLst>
                  <a:ext uri="{FF2B5EF4-FFF2-40B4-BE49-F238E27FC236}">
                    <a16:creationId xmlns:a16="http://schemas.microsoft.com/office/drawing/2014/main" id="{49CBC9CF-7A8A-0447-BCBB-826A54D7460D}"/>
                  </a:ext>
                </a:extLst>
              </p:cNvPr>
              <p:cNvPicPr/>
              <p:nvPr/>
            </p:nvPicPr>
            <p:blipFill>
              <a:blip r:embed="rId4"/>
              <a:stretch>
                <a:fillRect/>
              </a:stretch>
            </p:blipFill>
            <p:spPr>
              <a:xfrm>
                <a:off x="-2011680" y="212724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Tinta 3">
                <a:extLst>
                  <a:ext uri="{FF2B5EF4-FFF2-40B4-BE49-F238E27FC236}">
                    <a16:creationId xmlns:a16="http://schemas.microsoft.com/office/drawing/2014/main" id="{B1B75A74-0A55-9C59-2D02-BC513A5ED705}"/>
                  </a:ext>
                </a:extLst>
              </p14:cNvPr>
              <p14:cNvContentPartPr/>
              <p14:nvPr/>
            </p14:nvContentPartPr>
            <p14:xfrm>
              <a:off x="5694840" y="5309665"/>
              <a:ext cx="360" cy="360"/>
            </p14:xfrm>
          </p:contentPart>
        </mc:Choice>
        <mc:Fallback xmlns="">
          <p:pic>
            <p:nvPicPr>
              <p:cNvPr id="4" name="Tinta 3">
                <a:extLst>
                  <a:ext uri="{FF2B5EF4-FFF2-40B4-BE49-F238E27FC236}">
                    <a16:creationId xmlns:a16="http://schemas.microsoft.com/office/drawing/2014/main" id="{B1B75A74-0A55-9C59-2D02-BC513A5ED705}"/>
                  </a:ext>
                </a:extLst>
              </p:cNvPr>
              <p:cNvPicPr/>
              <p:nvPr/>
            </p:nvPicPr>
            <p:blipFill>
              <a:blip r:embed="rId4"/>
              <a:stretch>
                <a:fillRect/>
              </a:stretch>
            </p:blipFill>
            <p:spPr>
              <a:xfrm>
                <a:off x="5688720" y="530354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Tinta 7">
                <a:extLst>
                  <a:ext uri="{FF2B5EF4-FFF2-40B4-BE49-F238E27FC236}">
                    <a16:creationId xmlns:a16="http://schemas.microsoft.com/office/drawing/2014/main" id="{188DEB15-5B89-0BE6-D109-014380731B81}"/>
                  </a:ext>
                </a:extLst>
              </p14:cNvPr>
              <p14:cNvContentPartPr/>
              <p14:nvPr/>
            </p14:nvContentPartPr>
            <p14:xfrm>
              <a:off x="8807040" y="866185"/>
              <a:ext cx="360" cy="360"/>
            </p14:xfrm>
          </p:contentPart>
        </mc:Choice>
        <mc:Fallback xmlns="">
          <p:pic>
            <p:nvPicPr>
              <p:cNvPr id="8" name="Tinta 7">
                <a:extLst>
                  <a:ext uri="{FF2B5EF4-FFF2-40B4-BE49-F238E27FC236}">
                    <a16:creationId xmlns:a16="http://schemas.microsoft.com/office/drawing/2014/main" id="{188DEB15-5B89-0BE6-D109-014380731B81}"/>
                  </a:ext>
                </a:extLst>
              </p:cNvPr>
              <p:cNvPicPr/>
              <p:nvPr/>
            </p:nvPicPr>
            <p:blipFill>
              <a:blip r:embed="rId7"/>
              <a:stretch>
                <a:fillRect/>
              </a:stretch>
            </p:blipFill>
            <p:spPr>
              <a:xfrm>
                <a:off x="8800920" y="860065"/>
                <a:ext cx="12600" cy="12600"/>
              </a:xfrm>
              <a:prstGeom prst="rect">
                <a:avLst/>
              </a:prstGeom>
            </p:spPr>
          </p:pic>
        </mc:Fallback>
      </mc:AlternateContent>
      <p:sp>
        <p:nvSpPr>
          <p:cNvPr id="14" name="CaixaDeTexto 13">
            <a:extLst>
              <a:ext uri="{FF2B5EF4-FFF2-40B4-BE49-F238E27FC236}">
                <a16:creationId xmlns:a16="http://schemas.microsoft.com/office/drawing/2014/main" id="{38658267-7FC7-04CC-480C-C1BA4C213A87}"/>
              </a:ext>
            </a:extLst>
          </p:cNvPr>
          <p:cNvSpPr txBox="1"/>
          <p:nvPr/>
        </p:nvSpPr>
        <p:spPr>
          <a:xfrm>
            <a:off x="2834125" y="9405119"/>
            <a:ext cx="1189748" cy="384721"/>
          </a:xfrm>
          <a:prstGeom prst="rect">
            <a:avLst/>
          </a:prstGeom>
          <a:noFill/>
        </p:spPr>
        <p:txBody>
          <a:bodyPr wrap="none" rtlCol="0">
            <a:spAutoFit/>
          </a:bodyPr>
          <a:lstStyle/>
          <a:p>
            <a:pPr algn="ctr"/>
            <a:r>
              <a:rPr lang="pt-BR" sz="1900" dirty="0">
                <a:solidFill>
                  <a:schemeClr val="bg1"/>
                </a:solidFill>
                <a:latin typeface="Crimson Text" pitchFamily="2" charset="0"/>
              </a:rPr>
              <a:t>Joana </a:t>
            </a:r>
            <a:r>
              <a:rPr lang="pt-BR" sz="1600" dirty="0">
                <a:solidFill>
                  <a:schemeClr val="bg1"/>
                </a:solidFill>
                <a:latin typeface="Crimson Text" pitchFamily="2" charset="0"/>
              </a:rPr>
              <a:t>D’arc</a:t>
            </a:r>
            <a:endParaRPr lang="pt-BR" sz="1900" dirty="0">
              <a:solidFill>
                <a:schemeClr val="bg1"/>
              </a:solidFill>
              <a:latin typeface="Crimson Text" pitchFamily="2" charset="0"/>
            </a:endParaRPr>
          </a:p>
        </p:txBody>
      </p:sp>
      <p:sp>
        <p:nvSpPr>
          <p:cNvPr id="7" name="Espaço Reservado para Número de Slide 6">
            <a:extLst>
              <a:ext uri="{FF2B5EF4-FFF2-40B4-BE49-F238E27FC236}">
                <a16:creationId xmlns:a16="http://schemas.microsoft.com/office/drawing/2014/main" id="{39E3A8BA-2A59-1EF9-2317-BE196E31DB1C}"/>
              </a:ext>
            </a:extLst>
          </p:cNvPr>
          <p:cNvSpPr>
            <a:spLocks noGrp="1"/>
          </p:cNvSpPr>
          <p:nvPr>
            <p:ph type="sldNum" sz="quarter" idx="12"/>
          </p:nvPr>
        </p:nvSpPr>
        <p:spPr/>
        <p:txBody>
          <a:bodyPr/>
          <a:lstStyle/>
          <a:p>
            <a:fld id="{9A399360-F993-465D-8DB3-70366CB522FF}" type="slidenum">
              <a:rPr lang="pt-BR" smtClean="0"/>
              <a:t>1</a:t>
            </a:fld>
            <a:endParaRPr lang="pt-BR"/>
          </a:p>
        </p:txBody>
      </p:sp>
    </p:spTree>
    <p:extLst>
      <p:ext uri="{BB962C8B-B14F-4D97-AF65-F5344CB8AC3E}">
        <p14:creationId xmlns:p14="http://schemas.microsoft.com/office/powerpoint/2010/main" val="568371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4F97A-600E-B92A-A726-F6A54EEB39D8}"/>
            </a:ext>
          </a:extLst>
        </p:cNvPr>
        <p:cNvGrpSpPr/>
        <p:nvPr/>
      </p:nvGrpSpPr>
      <p:grpSpPr>
        <a:xfrm>
          <a:off x="0" y="0"/>
          <a:ext cx="0" cy="0"/>
          <a:chOff x="0" y="0"/>
          <a:chExt cx="0" cy="0"/>
        </a:xfrm>
      </p:grpSpPr>
      <p:sp>
        <p:nvSpPr>
          <p:cNvPr id="4" name="Texto">
            <a:extLst>
              <a:ext uri="{FF2B5EF4-FFF2-40B4-BE49-F238E27FC236}">
                <a16:creationId xmlns:a16="http://schemas.microsoft.com/office/drawing/2014/main" id="{B0FBD8D5-942D-2D72-9FC9-1A95C46D6132}"/>
              </a:ext>
            </a:extLst>
          </p:cNvPr>
          <p:cNvSpPr txBox="1"/>
          <p:nvPr/>
        </p:nvSpPr>
        <p:spPr>
          <a:xfrm>
            <a:off x="541422" y="1998253"/>
            <a:ext cx="6128084" cy="4585871"/>
          </a:xfrm>
          <a:prstGeom prst="rect">
            <a:avLst/>
          </a:prstGeom>
          <a:noFill/>
        </p:spPr>
        <p:txBody>
          <a:bodyPr wrap="square" rtlCol="0">
            <a:spAutoFit/>
          </a:bodyPr>
          <a:lstStyle/>
          <a:p>
            <a:r>
              <a:rPr lang="pt-BR" sz="1600" dirty="0">
                <a:latin typeface="Crimson Text" pitchFamily="2" charset="0"/>
              </a:rPr>
              <a:t>Há momentos em que o mundo ao redor parece o mesmo, mas algo dentro de nós começa a mudar. Não porque escutamos um chamado distante, mas porque os olhos, enfim, se erguem ao Alto. </a:t>
            </a:r>
          </a:p>
          <a:p>
            <a:endParaRPr lang="pt-BR" sz="1600" dirty="0">
              <a:latin typeface="Crimson Text" pitchFamily="2" charset="0"/>
            </a:endParaRPr>
          </a:p>
          <a:p>
            <a:r>
              <a:rPr lang="pt-BR" sz="1600" dirty="0">
                <a:latin typeface="Crimson Text" pitchFamily="2" charset="0"/>
              </a:rPr>
              <a:t>É assim que muitas jornadas espirituais começam (para não dizer todas). Não com trombetas, mas com luz. Uma luz que não fere, não cega, apenas desperta. Como a primeira claridade da manhã tocando as montanhas, ela anuncia silenciosamente algo novo. Algo maior do que nós e, ao mesmo tempo, feito para nós.</a:t>
            </a:r>
          </a:p>
          <a:p>
            <a:endParaRPr lang="pt-BR" sz="1600" dirty="0">
              <a:latin typeface="Crimson Text" pitchFamily="2" charset="0"/>
            </a:endParaRPr>
          </a:p>
          <a:p>
            <a:r>
              <a:rPr lang="pt-BR" sz="1600" dirty="0">
                <a:latin typeface="Crimson Text" pitchFamily="2" charset="0"/>
              </a:rPr>
              <a:t>Este livreto nasce desse instante. O momento em que o horizonte se abre e descobrimos que a fé cristã não é um caminho estreito demais para o coração humano. É um oceano amplo, onde brilham incontáveis reflexos de um único Sol: Deus, Uno e Trino.</a:t>
            </a:r>
          </a:p>
          <a:p>
            <a:endParaRPr lang="pt-BR" sz="1600" dirty="0">
              <a:latin typeface="Crimson Text" pitchFamily="2" charset="0"/>
            </a:endParaRPr>
          </a:p>
          <a:p>
            <a:r>
              <a:rPr lang="pt-BR" sz="1600" i="1" dirty="0">
                <a:latin typeface="Crimson Text" pitchFamily="2" charset="0"/>
              </a:rPr>
              <a:t>A luz é única. </a:t>
            </a:r>
          </a:p>
          <a:p>
            <a:r>
              <a:rPr lang="pt-BR" sz="1600" i="1" dirty="0">
                <a:latin typeface="Crimson Text" pitchFamily="2" charset="0"/>
              </a:rPr>
              <a:t>As passagens por onde ela chega até nós são muitas.</a:t>
            </a:r>
            <a:r>
              <a:rPr lang="pt-BR" dirty="0"/>
              <a:t> </a:t>
            </a:r>
          </a:p>
          <a:p>
            <a:r>
              <a:rPr lang="pt-BR" dirty="0"/>
              <a:t> </a:t>
            </a:r>
            <a:endParaRPr lang="pt-BR" i="1" dirty="0"/>
          </a:p>
        </p:txBody>
      </p:sp>
      <p:sp>
        <p:nvSpPr>
          <p:cNvPr id="8" name="SubTitulo">
            <a:extLst>
              <a:ext uri="{FF2B5EF4-FFF2-40B4-BE49-F238E27FC236}">
                <a16:creationId xmlns:a16="http://schemas.microsoft.com/office/drawing/2014/main" id="{11A2A8AB-32DB-0561-33AF-8140A274BA75}"/>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A aurora de um horizonte ainda desconhecido</a:t>
            </a:r>
          </a:p>
        </p:txBody>
      </p:sp>
      <p:sp>
        <p:nvSpPr>
          <p:cNvPr id="6" name="Titulo">
            <a:extLst>
              <a:ext uri="{FF2B5EF4-FFF2-40B4-BE49-F238E27FC236}">
                <a16:creationId xmlns:a16="http://schemas.microsoft.com/office/drawing/2014/main" id="{BE23A26A-FB8E-6E5A-1C2E-5A89A5EDAB18}"/>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O Primeiro Levantar dos Olhos:</a:t>
            </a:r>
          </a:p>
        </p:txBody>
      </p:sp>
      <p:sp>
        <p:nvSpPr>
          <p:cNvPr id="2" name="Retângulo 1">
            <a:extLst>
              <a:ext uri="{FF2B5EF4-FFF2-40B4-BE49-F238E27FC236}">
                <a16:creationId xmlns:a16="http://schemas.microsoft.com/office/drawing/2014/main" id="{AC5B1339-DCDC-3CC0-6BA0-ED5DEC7DEE93}"/>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02D0312F-699C-609E-C08A-BDC92C7D3A78}"/>
              </a:ext>
            </a:extLst>
          </p:cNvPr>
          <p:cNvSpPr txBox="1"/>
          <p:nvPr/>
        </p:nvSpPr>
        <p:spPr>
          <a:xfrm>
            <a:off x="3237748" y="1683760"/>
            <a:ext cx="312821" cy="369332"/>
          </a:xfrm>
          <a:prstGeom prst="rect">
            <a:avLst/>
          </a:prstGeom>
          <a:noFill/>
        </p:spPr>
        <p:txBody>
          <a:bodyPr wrap="square" rtlCol="0">
            <a:spAutoFit/>
          </a:bodyPr>
          <a:lstStyle/>
          <a:p>
            <a:r>
              <a:rPr lang="pt-BR" dirty="0"/>
              <a:t>✠</a:t>
            </a:r>
          </a:p>
        </p:txBody>
      </p:sp>
      <p:sp>
        <p:nvSpPr>
          <p:cNvPr id="10" name="Espaço Reservado para Número de Slide 9">
            <a:extLst>
              <a:ext uri="{FF2B5EF4-FFF2-40B4-BE49-F238E27FC236}">
                <a16:creationId xmlns:a16="http://schemas.microsoft.com/office/drawing/2014/main" id="{616DE3EC-3F7D-A17D-FF49-3A380E379611}"/>
              </a:ext>
            </a:extLst>
          </p:cNvPr>
          <p:cNvSpPr>
            <a:spLocks noGrp="1"/>
          </p:cNvSpPr>
          <p:nvPr>
            <p:ph type="sldNum" sz="quarter" idx="12"/>
          </p:nvPr>
        </p:nvSpPr>
        <p:spPr/>
        <p:txBody>
          <a:bodyPr/>
          <a:lstStyle/>
          <a:p>
            <a:fld id="{9A399360-F993-465D-8DB3-70366CB522FF}" type="slidenum">
              <a:rPr lang="pt-BR" smtClean="0"/>
              <a:t>2</a:t>
            </a:fld>
            <a:endParaRPr lang="pt-BR"/>
          </a:p>
        </p:txBody>
      </p:sp>
    </p:spTree>
    <p:extLst>
      <p:ext uri="{BB962C8B-B14F-4D97-AF65-F5344CB8AC3E}">
        <p14:creationId xmlns:p14="http://schemas.microsoft.com/office/powerpoint/2010/main" val="145974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105D8-FBD4-FDCC-2A89-E754F9A48D0A}"/>
            </a:ext>
          </a:extLst>
        </p:cNvPr>
        <p:cNvGrpSpPr/>
        <p:nvPr/>
      </p:nvGrpSpPr>
      <p:grpSpPr>
        <a:xfrm>
          <a:off x="0" y="0"/>
          <a:ext cx="0" cy="0"/>
          <a:chOff x="0" y="0"/>
          <a:chExt cx="0" cy="0"/>
        </a:xfrm>
      </p:grpSpPr>
      <p:sp>
        <p:nvSpPr>
          <p:cNvPr id="4" name="Texto">
            <a:extLst>
              <a:ext uri="{FF2B5EF4-FFF2-40B4-BE49-F238E27FC236}">
                <a16:creationId xmlns:a16="http://schemas.microsoft.com/office/drawing/2014/main" id="{084E8CF3-B2D8-F696-CDFC-1509C53A3FAD}"/>
              </a:ext>
            </a:extLst>
          </p:cNvPr>
          <p:cNvSpPr txBox="1"/>
          <p:nvPr/>
        </p:nvSpPr>
        <p:spPr>
          <a:xfrm>
            <a:off x="541422" y="1991735"/>
            <a:ext cx="6128084" cy="7971413"/>
          </a:xfrm>
          <a:prstGeom prst="rect">
            <a:avLst/>
          </a:prstGeom>
          <a:noFill/>
        </p:spPr>
        <p:txBody>
          <a:bodyPr wrap="square" rtlCol="0">
            <a:spAutoFit/>
          </a:bodyPr>
          <a:lstStyle/>
          <a:p>
            <a:r>
              <a:rPr lang="pt-BR" sz="1600" dirty="0">
                <a:latin typeface="Crimson Text" pitchFamily="2" charset="0"/>
              </a:rPr>
              <a:t>Assim são as ordens religiosas: mosaicos da mesma luz divina, formas diversas de uma vocação eterna. Cada uma recebe e reflete Cristo à sua maneira. Algumas vivem na clausura silenciosa, onde o coração aprende a respirar no ritmo de Deus. Outras caminham nas cidades, mendicantes, confiando inteiramente na Providência. Outras ainda dedicam-se ao estudo, buscando a sabedoria que salva. E certas comunidades seguem pelo serviço apostólico, alcançando terras distantes.</a:t>
            </a:r>
          </a:p>
          <a:p>
            <a:endParaRPr lang="pt-BR" sz="1600" dirty="0">
              <a:latin typeface="Crimson Text" pitchFamily="2" charset="0"/>
            </a:endParaRPr>
          </a:p>
          <a:p>
            <a:r>
              <a:rPr lang="pt-BR" sz="1600" i="1" dirty="0">
                <a:latin typeface="Crimson Text" pitchFamily="2" charset="0"/>
              </a:rPr>
              <a:t>Diante desse mosaico, ninguém está fora de lugar. Há uma luz para cada alma. Há um caminho, um chamado para cada coração.</a:t>
            </a:r>
          </a:p>
          <a:p>
            <a:endParaRPr lang="pt-BR" sz="1600" i="1" dirty="0">
              <a:latin typeface="Crimson Text" pitchFamily="2" charset="0"/>
            </a:endParaRPr>
          </a:p>
          <a:p>
            <a:r>
              <a:rPr lang="pt-BR" sz="1600" dirty="0">
                <a:latin typeface="Crimson Text" pitchFamily="2" charset="0"/>
              </a:rPr>
              <a:t>Ao longo destas humildes páginas, você conhecerá homens e mulheres que incendiaram a história com santidade e coragem. </a:t>
            </a:r>
          </a:p>
          <a:p>
            <a:r>
              <a:rPr lang="pt-BR" sz="1600" dirty="0">
                <a:latin typeface="Crimson Text" pitchFamily="2" charset="0"/>
              </a:rPr>
              <a:t>São Bento, São Francisco de Assis, Santo Inácio de Loyola, São Domingos, São Tomás de Aquino e tantos outros desvelaram, com estilo próprio, a </a:t>
            </a:r>
          </a:p>
          <a:p>
            <a:r>
              <a:rPr lang="pt-BR" sz="1600" dirty="0">
                <a:latin typeface="Crimson Text" pitchFamily="2" charset="0"/>
              </a:rPr>
              <a:t>largura e a doçura do amor de Cristo. </a:t>
            </a:r>
          </a:p>
          <a:p>
            <a:endParaRPr lang="pt-BR" sz="1600" dirty="0">
              <a:latin typeface="Crimson Text" pitchFamily="2" charset="0"/>
            </a:endParaRPr>
          </a:p>
          <a:p>
            <a:r>
              <a:rPr lang="pt-BR" sz="1600" i="1" dirty="0">
                <a:latin typeface="Crimson Text" pitchFamily="2" charset="0"/>
              </a:rPr>
              <a:t>Não trilharam estradas idênticas, mas todos caminharam, porém, sob o mesmo Sol.</a:t>
            </a:r>
          </a:p>
          <a:p>
            <a:endParaRPr lang="pt-BR" sz="1600" dirty="0">
              <a:latin typeface="Crimson Text" pitchFamily="2" charset="0"/>
            </a:endParaRPr>
          </a:p>
          <a:p>
            <a:r>
              <a:rPr lang="pt-BR" sz="1600" dirty="0">
                <a:latin typeface="Crimson Text" pitchFamily="2" charset="0"/>
              </a:rPr>
              <a:t>Este pequeno escrito é dedicado a você, seja curioso ou piedoso, para o aprendiz ou douto,  para quem busca sentido e para aquele que talvez, discretamente, comece a pressentir algo maior em seu peito.</a:t>
            </a:r>
          </a:p>
          <a:p>
            <a:endParaRPr lang="pt-BR" sz="1600" dirty="0">
              <a:latin typeface="Crimson Text" pitchFamily="2" charset="0"/>
            </a:endParaRPr>
          </a:p>
          <a:p>
            <a:r>
              <a:rPr lang="pt-BR" sz="1600" dirty="0">
                <a:latin typeface="Crimson Text" pitchFamily="2" charset="0"/>
              </a:rPr>
              <a:t>Este livro não exige prontidão. Apenas pede um coração desperto, enamorado. Se ao final você descobrir em si a leve suspeita de que existe um caminho próprio preparado por Deus, então a luz já começou a nascer em você.</a:t>
            </a:r>
          </a:p>
          <a:p>
            <a:endParaRPr lang="pt-BR" sz="1600" dirty="0">
              <a:latin typeface="Crimson Text" pitchFamily="2" charset="0"/>
            </a:endParaRPr>
          </a:p>
          <a:p>
            <a:r>
              <a:rPr lang="pt-BR" sz="1600" i="1" dirty="0">
                <a:latin typeface="Crimson Text" pitchFamily="2" charset="0"/>
              </a:rPr>
              <a:t>Respire. Observe o horizonte.</a:t>
            </a:r>
          </a:p>
          <a:p>
            <a:r>
              <a:rPr lang="pt-BR" sz="1600" i="1" dirty="0">
                <a:latin typeface="Crimson Text" pitchFamily="2" charset="0"/>
              </a:rPr>
              <a:t>A aurora já começou.</a:t>
            </a:r>
            <a:endParaRPr lang="pt-BR" i="1" dirty="0"/>
          </a:p>
        </p:txBody>
      </p:sp>
      <p:sp>
        <p:nvSpPr>
          <p:cNvPr id="8" name="SubTitulo">
            <a:extLst>
              <a:ext uri="{FF2B5EF4-FFF2-40B4-BE49-F238E27FC236}">
                <a16:creationId xmlns:a16="http://schemas.microsoft.com/office/drawing/2014/main" id="{9AB26FFA-8E27-FE50-3C82-F6F1DB0C6895}"/>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A aurora de um horizonte ainda desconhecido</a:t>
            </a:r>
          </a:p>
        </p:txBody>
      </p:sp>
      <p:sp>
        <p:nvSpPr>
          <p:cNvPr id="6" name="Titulo">
            <a:extLst>
              <a:ext uri="{FF2B5EF4-FFF2-40B4-BE49-F238E27FC236}">
                <a16:creationId xmlns:a16="http://schemas.microsoft.com/office/drawing/2014/main" id="{8B7E78A7-08F7-3467-A7B7-81539E2B0405}"/>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O Primeiro Levantar dos Olhos:</a:t>
            </a:r>
          </a:p>
        </p:txBody>
      </p:sp>
      <p:sp>
        <p:nvSpPr>
          <p:cNvPr id="2" name="Retângulo 1">
            <a:extLst>
              <a:ext uri="{FF2B5EF4-FFF2-40B4-BE49-F238E27FC236}">
                <a16:creationId xmlns:a16="http://schemas.microsoft.com/office/drawing/2014/main" id="{0A178367-0A99-7DC0-20DD-B54C314D8FDB}"/>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C720DF11-83EF-1811-49D7-3C5B7860F1CA}"/>
              </a:ext>
            </a:extLst>
          </p:cNvPr>
          <p:cNvSpPr txBox="1"/>
          <p:nvPr/>
        </p:nvSpPr>
        <p:spPr>
          <a:xfrm>
            <a:off x="3237748" y="1681958"/>
            <a:ext cx="312821" cy="369332"/>
          </a:xfrm>
          <a:prstGeom prst="rect">
            <a:avLst/>
          </a:prstGeom>
          <a:noFill/>
        </p:spPr>
        <p:txBody>
          <a:bodyPr wrap="square" rtlCol="0">
            <a:spAutoFit/>
          </a:bodyPr>
          <a:lstStyle/>
          <a:p>
            <a:r>
              <a:rPr lang="pt-BR" dirty="0"/>
              <a:t>✠</a:t>
            </a:r>
          </a:p>
        </p:txBody>
      </p:sp>
      <p:sp>
        <p:nvSpPr>
          <p:cNvPr id="9" name="Espaço Reservado para Número de Slide 8">
            <a:extLst>
              <a:ext uri="{FF2B5EF4-FFF2-40B4-BE49-F238E27FC236}">
                <a16:creationId xmlns:a16="http://schemas.microsoft.com/office/drawing/2014/main" id="{BA59A08F-0433-9C50-F536-F2BAAAA87B3F}"/>
              </a:ext>
            </a:extLst>
          </p:cNvPr>
          <p:cNvSpPr>
            <a:spLocks noGrp="1"/>
          </p:cNvSpPr>
          <p:nvPr>
            <p:ph type="sldNum" sz="quarter" idx="12"/>
          </p:nvPr>
        </p:nvSpPr>
        <p:spPr/>
        <p:txBody>
          <a:bodyPr/>
          <a:lstStyle/>
          <a:p>
            <a:fld id="{9A399360-F993-465D-8DB3-70366CB522FF}" type="slidenum">
              <a:rPr lang="pt-BR" smtClean="0"/>
              <a:t>3</a:t>
            </a:fld>
            <a:endParaRPr lang="pt-BR"/>
          </a:p>
        </p:txBody>
      </p:sp>
    </p:spTree>
    <p:extLst>
      <p:ext uri="{BB962C8B-B14F-4D97-AF65-F5344CB8AC3E}">
        <p14:creationId xmlns:p14="http://schemas.microsoft.com/office/powerpoint/2010/main" val="758244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D9B29-4B36-7167-9DB8-E3E338E13115}"/>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D7A282DF-699E-1D17-20B0-D49CE218A9DA}"/>
              </a:ext>
            </a:extLst>
          </p:cNvPr>
          <p:cNvSpPr/>
          <p:nvPr/>
        </p:nvSpPr>
        <p:spPr>
          <a:xfrm>
            <a:off x="0" y="0"/>
            <a:ext cx="6858000" cy="9906000"/>
          </a:xfrm>
          <a:prstGeom prst="rect">
            <a:avLst/>
          </a:prstGeom>
          <a:solidFill>
            <a:srgbClr val="74360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
            <a:extLst>
              <a:ext uri="{FF2B5EF4-FFF2-40B4-BE49-F238E27FC236}">
                <a16:creationId xmlns:a16="http://schemas.microsoft.com/office/drawing/2014/main" id="{394CC2DE-9A84-4EE3-B574-4F01F291CFDB}"/>
              </a:ext>
            </a:extLst>
          </p:cNvPr>
          <p:cNvSpPr txBox="1"/>
          <p:nvPr/>
        </p:nvSpPr>
        <p:spPr>
          <a:xfrm>
            <a:off x="258679" y="4953000"/>
            <a:ext cx="6340642" cy="830997"/>
          </a:xfrm>
          <a:prstGeom prst="rect">
            <a:avLst/>
          </a:prstGeom>
          <a:noFill/>
        </p:spPr>
        <p:txBody>
          <a:bodyPr wrap="square">
            <a:spAutoFit/>
          </a:bodyPr>
          <a:lstStyle/>
          <a:p>
            <a:pPr algn="ctr"/>
            <a:r>
              <a:rPr lang="pt-BR" sz="2400" dirty="0">
                <a:solidFill>
                  <a:schemeClr val="bg1"/>
                </a:solidFill>
                <a:latin typeface="Playfair Display" pitchFamily="2" charset="0"/>
              </a:rPr>
              <a:t>ESTANDARTES AO LONGE:</a:t>
            </a:r>
          </a:p>
          <a:p>
            <a:pPr algn="ctr"/>
            <a:r>
              <a:rPr lang="pt-BR" sz="2400" dirty="0">
                <a:solidFill>
                  <a:schemeClr val="bg1"/>
                </a:solidFill>
                <a:latin typeface="Playfair Display" pitchFamily="2" charset="0"/>
              </a:rPr>
              <a:t>CONHECENDO OS GUARDIÕES DA FÉ</a:t>
            </a:r>
            <a:endParaRPr lang="pt-BR" sz="2400" dirty="0">
              <a:solidFill>
                <a:schemeClr val="bg1"/>
              </a:solidFill>
              <a:latin typeface="Crimson Text SemiBold" pitchFamily="2" charset="0"/>
            </a:endParaRPr>
          </a:p>
        </p:txBody>
      </p:sp>
      <p:sp>
        <p:nvSpPr>
          <p:cNvPr id="5" name="Titulo">
            <a:extLst>
              <a:ext uri="{FF2B5EF4-FFF2-40B4-BE49-F238E27FC236}">
                <a16:creationId xmlns:a16="http://schemas.microsoft.com/office/drawing/2014/main" id="{5993F2D7-EAB7-A188-0478-4881EB7316AE}"/>
              </a:ext>
            </a:extLst>
          </p:cNvPr>
          <p:cNvSpPr txBox="1"/>
          <p:nvPr/>
        </p:nvSpPr>
        <p:spPr>
          <a:xfrm>
            <a:off x="258679" y="1198715"/>
            <a:ext cx="6340642" cy="3539430"/>
          </a:xfrm>
          <a:prstGeom prst="rect">
            <a:avLst/>
          </a:prstGeom>
          <a:noFill/>
        </p:spPr>
        <p:txBody>
          <a:bodyPr wrap="square">
            <a:spAutoFit/>
          </a:bodyPr>
          <a:lstStyle/>
          <a:p>
            <a:pPr algn="ctr"/>
            <a:r>
              <a:rPr lang="pt-BR" sz="22400" dirty="0">
                <a:ln>
                  <a:solidFill>
                    <a:schemeClr val="bg1"/>
                  </a:solidFill>
                </a:ln>
                <a:noFill/>
                <a:latin typeface="Playfair Display" pitchFamily="2" charset="0"/>
              </a:rPr>
              <a:t>01</a:t>
            </a:r>
          </a:p>
        </p:txBody>
      </p:sp>
      <p:sp>
        <p:nvSpPr>
          <p:cNvPr id="6" name="Retângulo 5">
            <a:extLst>
              <a:ext uri="{FF2B5EF4-FFF2-40B4-BE49-F238E27FC236}">
                <a16:creationId xmlns:a16="http://schemas.microsoft.com/office/drawing/2014/main" id="{D558A7C0-12B7-D5D8-1615-FE40BAE925E5}"/>
              </a:ext>
            </a:extLst>
          </p:cNvPr>
          <p:cNvSpPr/>
          <p:nvPr/>
        </p:nvSpPr>
        <p:spPr>
          <a:xfrm>
            <a:off x="493294" y="5829208"/>
            <a:ext cx="5871411" cy="144364"/>
          </a:xfrm>
          <a:prstGeom prst="rect">
            <a:avLst/>
          </a:prstGeom>
          <a:gradFill flip="none" rotWithShape="1">
            <a:gsLst>
              <a:gs pos="0">
                <a:srgbClr val="FEE485"/>
              </a:gs>
              <a:gs pos="74000">
                <a:srgbClr val="CA8335"/>
              </a:gs>
              <a:gs pos="83000">
                <a:srgbClr val="8A4E1C"/>
              </a:gs>
              <a:gs pos="100000">
                <a:srgbClr val="8A4E1C"/>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itulo">
            <a:extLst>
              <a:ext uri="{FF2B5EF4-FFF2-40B4-BE49-F238E27FC236}">
                <a16:creationId xmlns:a16="http://schemas.microsoft.com/office/drawing/2014/main" id="{883AD3C1-5CC8-0945-89EC-08AC97BA179D}"/>
              </a:ext>
            </a:extLst>
          </p:cNvPr>
          <p:cNvSpPr txBox="1"/>
          <p:nvPr/>
        </p:nvSpPr>
        <p:spPr>
          <a:xfrm>
            <a:off x="258679" y="5998852"/>
            <a:ext cx="6340642" cy="1815882"/>
          </a:xfrm>
          <a:prstGeom prst="rect">
            <a:avLst/>
          </a:prstGeom>
          <a:noFill/>
        </p:spPr>
        <p:txBody>
          <a:bodyPr wrap="square">
            <a:spAutoFit/>
          </a:bodyPr>
          <a:lstStyle/>
          <a:p>
            <a:pPr algn="ctr"/>
            <a:r>
              <a:rPr lang="pt-BR" sz="1600" dirty="0">
                <a:solidFill>
                  <a:schemeClr val="bg1"/>
                </a:solidFill>
                <a:latin typeface="Crimson Text" pitchFamily="2" charset="0"/>
              </a:rPr>
              <a:t>Ao admirar esses mosaicos, o peregrino percebe que a luz que nasce no horizonte é a mesma mas ela não se derrama sobre a terra de modo uniforme. Ela encontra formas diversas, reflete-se em modos de vida, floresce em costumes distintos. É então que </a:t>
            </a:r>
            <a:r>
              <a:rPr lang="pt-BR" sz="1600" b="1" dirty="0">
                <a:solidFill>
                  <a:schemeClr val="bg1"/>
                </a:solidFill>
                <a:latin typeface="Crimson Text" pitchFamily="2" charset="0"/>
              </a:rPr>
              <a:t>surge a descoberta</a:t>
            </a:r>
            <a:r>
              <a:rPr lang="pt-BR" sz="1600" dirty="0">
                <a:solidFill>
                  <a:schemeClr val="bg1"/>
                </a:solidFill>
                <a:latin typeface="Crimson Text" pitchFamily="2" charset="0"/>
              </a:rPr>
              <a:t>: existem homens e mulheres que, movidos por essa claridade, </a:t>
            </a:r>
            <a:r>
              <a:rPr lang="pt-BR" sz="1600" b="1" dirty="0">
                <a:solidFill>
                  <a:schemeClr val="bg1"/>
                </a:solidFill>
                <a:latin typeface="Crimson Text" pitchFamily="2" charset="0"/>
              </a:rPr>
              <a:t>consagram toda a existência ao serviço de Cristo</a:t>
            </a:r>
            <a:r>
              <a:rPr lang="pt-BR" sz="1600" dirty="0">
                <a:solidFill>
                  <a:schemeClr val="bg1"/>
                </a:solidFill>
                <a:latin typeface="Crimson Text" pitchFamily="2" charset="0"/>
              </a:rPr>
              <a:t>. Chamamo-los de religiosos e às suas casas espirituais chamamos ordens.</a:t>
            </a:r>
          </a:p>
        </p:txBody>
      </p:sp>
      <p:sp>
        <p:nvSpPr>
          <p:cNvPr id="10" name="Espaço Reservado para Número de Slide 9">
            <a:extLst>
              <a:ext uri="{FF2B5EF4-FFF2-40B4-BE49-F238E27FC236}">
                <a16:creationId xmlns:a16="http://schemas.microsoft.com/office/drawing/2014/main" id="{D0AD9CAD-1896-2819-8908-D1A2CD844B77}"/>
              </a:ext>
            </a:extLst>
          </p:cNvPr>
          <p:cNvSpPr>
            <a:spLocks noGrp="1"/>
          </p:cNvSpPr>
          <p:nvPr>
            <p:ph type="sldNum" sz="quarter" idx="12"/>
          </p:nvPr>
        </p:nvSpPr>
        <p:spPr/>
        <p:txBody>
          <a:bodyPr/>
          <a:lstStyle/>
          <a:p>
            <a:fld id="{9A399360-F993-465D-8DB3-70366CB522FF}" type="slidenum">
              <a:rPr lang="pt-BR" smtClean="0"/>
              <a:t>4</a:t>
            </a:fld>
            <a:endParaRPr lang="pt-BR"/>
          </a:p>
        </p:txBody>
      </p:sp>
      <p:sp>
        <p:nvSpPr>
          <p:cNvPr id="13" name="CaixaDeTexto 12">
            <a:extLst>
              <a:ext uri="{FF2B5EF4-FFF2-40B4-BE49-F238E27FC236}">
                <a16:creationId xmlns:a16="http://schemas.microsoft.com/office/drawing/2014/main" id="{CAB5A9D5-A687-5A9A-9972-AE8D6608DDA8}"/>
              </a:ext>
            </a:extLst>
          </p:cNvPr>
          <p:cNvSpPr txBox="1"/>
          <p:nvPr/>
        </p:nvSpPr>
        <p:spPr>
          <a:xfrm>
            <a:off x="218485" y="5081798"/>
            <a:ext cx="267037" cy="461665"/>
          </a:xfrm>
          <a:prstGeom prst="rect">
            <a:avLst/>
          </a:prstGeom>
          <a:noFill/>
        </p:spPr>
        <p:txBody>
          <a:bodyPr wrap="square" rtlCol="0">
            <a:spAutoFit/>
          </a:bodyPr>
          <a:lstStyle/>
          <a:p>
            <a:r>
              <a:rPr lang="pt-BR" sz="2400" dirty="0">
                <a:solidFill>
                  <a:schemeClr val="bg1"/>
                </a:solidFill>
                <a:latin typeface="Playfair Display" pitchFamily="2" charset="0"/>
              </a:rPr>
              <a:t>✠</a:t>
            </a:r>
          </a:p>
        </p:txBody>
      </p:sp>
      <p:sp>
        <p:nvSpPr>
          <p:cNvPr id="14" name="CaixaDeTexto 13">
            <a:extLst>
              <a:ext uri="{FF2B5EF4-FFF2-40B4-BE49-F238E27FC236}">
                <a16:creationId xmlns:a16="http://schemas.microsoft.com/office/drawing/2014/main" id="{66819FC7-0A43-67C7-1F5D-9E936D30394F}"/>
              </a:ext>
            </a:extLst>
          </p:cNvPr>
          <p:cNvSpPr txBox="1"/>
          <p:nvPr/>
        </p:nvSpPr>
        <p:spPr>
          <a:xfrm>
            <a:off x="6197125" y="5088542"/>
            <a:ext cx="267037" cy="461665"/>
          </a:xfrm>
          <a:prstGeom prst="rect">
            <a:avLst/>
          </a:prstGeom>
          <a:noFill/>
        </p:spPr>
        <p:txBody>
          <a:bodyPr wrap="square" rtlCol="0">
            <a:spAutoFit/>
          </a:bodyPr>
          <a:lstStyle/>
          <a:p>
            <a:r>
              <a:rPr lang="pt-BR" sz="2400" dirty="0">
                <a:solidFill>
                  <a:schemeClr val="bg1"/>
                </a:solidFill>
                <a:latin typeface="Playfair Display" pitchFamily="2" charset="0"/>
              </a:rPr>
              <a:t>✠</a:t>
            </a:r>
          </a:p>
        </p:txBody>
      </p:sp>
    </p:spTree>
    <p:extLst>
      <p:ext uri="{BB962C8B-B14F-4D97-AF65-F5344CB8AC3E}">
        <p14:creationId xmlns:p14="http://schemas.microsoft.com/office/powerpoint/2010/main" val="3618159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C1B36-88F0-B8B2-049C-117D1E1E9AD2}"/>
            </a:ext>
          </a:extLst>
        </p:cNvPr>
        <p:cNvGrpSpPr/>
        <p:nvPr/>
      </p:nvGrpSpPr>
      <p:grpSpPr>
        <a:xfrm>
          <a:off x="0" y="0"/>
          <a:ext cx="0" cy="0"/>
          <a:chOff x="0" y="0"/>
          <a:chExt cx="0" cy="0"/>
        </a:xfrm>
      </p:grpSpPr>
      <p:sp>
        <p:nvSpPr>
          <p:cNvPr id="8" name="SubTitulo">
            <a:extLst>
              <a:ext uri="{FF2B5EF4-FFF2-40B4-BE49-F238E27FC236}">
                <a16:creationId xmlns:a16="http://schemas.microsoft.com/office/drawing/2014/main" id="{740AA6E9-F69A-F752-C4B3-3EED1C03EDEF}"/>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Conhecendo os guardiões da fé</a:t>
            </a:r>
          </a:p>
        </p:txBody>
      </p:sp>
      <p:sp>
        <p:nvSpPr>
          <p:cNvPr id="6" name="Titulo">
            <a:extLst>
              <a:ext uri="{FF2B5EF4-FFF2-40B4-BE49-F238E27FC236}">
                <a16:creationId xmlns:a16="http://schemas.microsoft.com/office/drawing/2014/main" id="{DAD06F24-EB35-AC30-0B83-B304AB490356}"/>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Estandartes ao Longe:</a:t>
            </a:r>
          </a:p>
        </p:txBody>
      </p:sp>
      <p:sp>
        <p:nvSpPr>
          <p:cNvPr id="2" name="Retângulo 1">
            <a:extLst>
              <a:ext uri="{FF2B5EF4-FFF2-40B4-BE49-F238E27FC236}">
                <a16:creationId xmlns:a16="http://schemas.microsoft.com/office/drawing/2014/main" id="{4E7462A7-0900-5062-AEFB-BFA3084E906B}"/>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00E213F7-B835-40F0-A1DC-A090B872BE9E}"/>
              </a:ext>
            </a:extLst>
          </p:cNvPr>
          <p:cNvSpPr txBox="1"/>
          <p:nvPr/>
        </p:nvSpPr>
        <p:spPr>
          <a:xfrm>
            <a:off x="3237748" y="1681958"/>
            <a:ext cx="312821" cy="369332"/>
          </a:xfrm>
          <a:prstGeom prst="rect">
            <a:avLst/>
          </a:prstGeom>
          <a:noFill/>
        </p:spPr>
        <p:txBody>
          <a:bodyPr wrap="square" rtlCol="0">
            <a:spAutoFit/>
          </a:bodyPr>
          <a:lstStyle/>
          <a:p>
            <a:r>
              <a:rPr lang="pt-BR" dirty="0"/>
              <a:t>✠</a:t>
            </a:r>
          </a:p>
        </p:txBody>
      </p:sp>
      <p:sp>
        <p:nvSpPr>
          <p:cNvPr id="5" name="Texto">
            <a:extLst>
              <a:ext uri="{FF2B5EF4-FFF2-40B4-BE49-F238E27FC236}">
                <a16:creationId xmlns:a16="http://schemas.microsoft.com/office/drawing/2014/main" id="{8722B70B-11AC-3523-5D62-100AC4E6F8F8}"/>
              </a:ext>
            </a:extLst>
          </p:cNvPr>
          <p:cNvSpPr txBox="1"/>
          <p:nvPr/>
        </p:nvSpPr>
        <p:spPr>
          <a:xfrm>
            <a:off x="541422" y="1991735"/>
            <a:ext cx="6128084" cy="5016758"/>
          </a:xfrm>
          <a:prstGeom prst="rect">
            <a:avLst/>
          </a:prstGeom>
          <a:noFill/>
        </p:spPr>
        <p:txBody>
          <a:bodyPr wrap="square" rtlCol="0">
            <a:spAutoFit/>
          </a:bodyPr>
          <a:lstStyle/>
          <a:p>
            <a:r>
              <a:rPr lang="pt-BR" sz="1600" dirty="0">
                <a:latin typeface="Crimson Text" pitchFamily="2" charset="0"/>
              </a:rPr>
              <a:t>Uma ordem religiosa é uma família que batalha sob determinada regra de vida e realiza votos sagrados professados diante de Deus e da Igreja. Cada uma delas guarda um modo particular de seguir Jesus Cristo, </a:t>
            </a:r>
            <a:r>
              <a:rPr lang="pt-BR" sz="1600" i="1" dirty="0">
                <a:latin typeface="Crimson Text" pitchFamily="2" charset="0"/>
              </a:rPr>
              <a:t>assim como cada estrela guarda um brilho único, ainda que todas pertençam ao mesmo céu.</a:t>
            </a:r>
          </a:p>
          <a:p>
            <a:endParaRPr lang="pt-BR" sz="1600" dirty="0">
              <a:latin typeface="Crimson Text" pitchFamily="2" charset="0"/>
            </a:endParaRPr>
          </a:p>
          <a:p>
            <a:r>
              <a:rPr lang="pt-BR" sz="1600" dirty="0">
                <a:latin typeface="Crimson Text" pitchFamily="2" charset="0"/>
              </a:rPr>
              <a:t>Os consagrados vivem, em geral, três votos fundamentais:</a:t>
            </a:r>
          </a:p>
          <a:p>
            <a:endParaRPr lang="pt-BR" sz="1600" dirty="0">
              <a:latin typeface="Crimson Text" pitchFamily="2" charset="0"/>
            </a:endParaRPr>
          </a:p>
          <a:p>
            <a:pPr marL="285750" indent="-285750">
              <a:buFont typeface="Crimson Text" pitchFamily="2" charset="0"/>
              <a:buChar char="†"/>
            </a:pPr>
            <a:r>
              <a:rPr lang="pt-BR" sz="1600" dirty="0">
                <a:latin typeface="Crimson Text" pitchFamily="2" charset="0"/>
              </a:rPr>
              <a:t>Pobreza: reconhecer Deus como verdadeira riqueza e viver no desapego.</a:t>
            </a:r>
          </a:p>
          <a:p>
            <a:pPr marL="285750" indent="-285750">
              <a:buFont typeface="Crimson Text" pitchFamily="2" charset="0"/>
              <a:buChar char="†"/>
            </a:pPr>
            <a:endParaRPr lang="pt-BR" sz="1600" dirty="0">
              <a:latin typeface="Crimson Text" pitchFamily="2" charset="0"/>
            </a:endParaRPr>
          </a:p>
          <a:p>
            <a:pPr marL="285750" indent="-285750">
              <a:buFont typeface="Crimson Text" pitchFamily="2" charset="0"/>
              <a:buChar char="†"/>
            </a:pPr>
            <a:r>
              <a:rPr lang="pt-BR" sz="1600" dirty="0">
                <a:latin typeface="Crimson Text" pitchFamily="2" charset="0"/>
              </a:rPr>
              <a:t>Castidade: deixar que o coração ame sem divisão e sirva ao Reino.</a:t>
            </a:r>
          </a:p>
          <a:p>
            <a:pPr marL="285750" indent="-285750">
              <a:buFont typeface="Crimson Text" pitchFamily="2" charset="0"/>
              <a:buChar char="†"/>
            </a:pPr>
            <a:endParaRPr lang="pt-BR" sz="1600" dirty="0">
              <a:latin typeface="Crimson Text" pitchFamily="2" charset="0"/>
            </a:endParaRPr>
          </a:p>
          <a:p>
            <a:pPr marL="285750" indent="-285750">
              <a:buFont typeface="Crimson Text" pitchFamily="2" charset="0"/>
              <a:buChar char="†"/>
            </a:pPr>
            <a:r>
              <a:rPr lang="pt-BR" sz="1600" dirty="0">
                <a:latin typeface="Crimson Text" pitchFamily="2" charset="0"/>
              </a:rPr>
              <a:t>Obediência: submeter-se livremente à vontade de Deus, discernida na comunidade e na Igreja.</a:t>
            </a:r>
          </a:p>
          <a:p>
            <a:endParaRPr lang="pt-BR" sz="1600" dirty="0">
              <a:latin typeface="Crimson Text" pitchFamily="2" charset="0"/>
            </a:endParaRPr>
          </a:p>
          <a:p>
            <a:r>
              <a:rPr lang="pt-BR" sz="1600" dirty="0">
                <a:latin typeface="Crimson Text" pitchFamily="2" charset="0"/>
              </a:rPr>
              <a:t>Algumas ordens acrescentam votos próprios. Os filhos de São Bento prometem estabilidade, perseverando no mesmo mosteiro ao longo da vida. Os filhos de Santo Inácio fazem voto de especial obediência ao Papa para as missões urgentes.</a:t>
            </a:r>
          </a:p>
        </p:txBody>
      </p:sp>
      <p:sp>
        <p:nvSpPr>
          <p:cNvPr id="10" name="Espaço Reservado para Número de Slide 9">
            <a:extLst>
              <a:ext uri="{FF2B5EF4-FFF2-40B4-BE49-F238E27FC236}">
                <a16:creationId xmlns:a16="http://schemas.microsoft.com/office/drawing/2014/main" id="{93CB5F18-D6E8-2169-2575-A07DBA0E5F50}"/>
              </a:ext>
            </a:extLst>
          </p:cNvPr>
          <p:cNvSpPr>
            <a:spLocks noGrp="1"/>
          </p:cNvSpPr>
          <p:nvPr>
            <p:ph type="sldNum" sz="quarter" idx="12"/>
          </p:nvPr>
        </p:nvSpPr>
        <p:spPr/>
        <p:txBody>
          <a:bodyPr/>
          <a:lstStyle/>
          <a:p>
            <a:fld id="{9A399360-F993-465D-8DB3-70366CB522FF}" type="slidenum">
              <a:rPr lang="pt-BR" smtClean="0"/>
              <a:t>5</a:t>
            </a:fld>
            <a:endParaRPr lang="pt-BR"/>
          </a:p>
        </p:txBody>
      </p:sp>
    </p:spTree>
    <p:extLst>
      <p:ext uri="{BB962C8B-B14F-4D97-AF65-F5344CB8AC3E}">
        <p14:creationId xmlns:p14="http://schemas.microsoft.com/office/powerpoint/2010/main" val="1693154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2870F-450E-CD6C-EF4A-C4F8BB840572}"/>
            </a:ext>
          </a:extLst>
        </p:cNvPr>
        <p:cNvGrpSpPr/>
        <p:nvPr/>
      </p:nvGrpSpPr>
      <p:grpSpPr>
        <a:xfrm>
          <a:off x="0" y="0"/>
          <a:ext cx="0" cy="0"/>
          <a:chOff x="0" y="0"/>
          <a:chExt cx="0" cy="0"/>
        </a:xfrm>
      </p:grpSpPr>
      <p:sp>
        <p:nvSpPr>
          <p:cNvPr id="8" name="SubTitulo">
            <a:extLst>
              <a:ext uri="{FF2B5EF4-FFF2-40B4-BE49-F238E27FC236}">
                <a16:creationId xmlns:a16="http://schemas.microsoft.com/office/drawing/2014/main" id="{3EA444A6-7AE6-2870-1B4E-C43AE02A14A1}"/>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Conhecendo os guardiões da fé</a:t>
            </a:r>
          </a:p>
        </p:txBody>
      </p:sp>
      <p:sp>
        <p:nvSpPr>
          <p:cNvPr id="6" name="Titulo">
            <a:extLst>
              <a:ext uri="{FF2B5EF4-FFF2-40B4-BE49-F238E27FC236}">
                <a16:creationId xmlns:a16="http://schemas.microsoft.com/office/drawing/2014/main" id="{E76F8D94-7326-0F4B-53E3-9E87FDAC9B89}"/>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Estandartes ao Longe:</a:t>
            </a:r>
          </a:p>
        </p:txBody>
      </p:sp>
      <p:sp>
        <p:nvSpPr>
          <p:cNvPr id="2" name="Retângulo 1">
            <a:extLst>
              <a:ext uri="{FF2B5EF4-FFF2-40B4-BE49-F238E27FC236}">
                <a16:creationId xmlns:a16="http://schemas.microsoft.com/office/drawing/2014/main" id="{DC5E3762-1642-BD81-2278-1B433D1A910B}"/>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63BB2D15-6D4B-3577-4A6D-C8B8F536CA1A}"/>
              </a:ext>
            </a:extLst>
          </p:cNvPr>
          <p:cNvSpPr txBox="1"/>
          <p:nvPr/>
        </p:nvSpPr>
        <p:spPr>
          <a:xfrm>
            <a:off x="3237748" y="1681958"/>
            <a:ext cx="312821" cy="369332"/>
          </a:xfrm>
          <a:prstGeom prst="rect">
            <a:avLst/>
          </a:prstGeom>
          <a:noFill/>
        </p:spPr>
        <p:txBody>
          <a:bodyPr wrap="square" rtlCol="0">
            <a:spAutoFit/>
          </a:bodyPr>
          <a:lstStyle/>
          <a:p>
            <a:r>
              <a:rPr lang="pt-BR" dirty="0"/>
              <a:t>✠</a:t>
            </a:r>
          </a:p>
        </p:txBody>
      </p:sp>
      <p:sp>
        <p:nvSpPr>
          <p:cNvPr id="5" name="Texto">
            <a:extLst>
              <a:ext uri="{FF2B5EF4-FFF2-40B4-BE49-F238E27FC236}">
                <a16:creationId xmlns:a16="http://schemas.microsoft.com/office/drawing/2014/main" id="{EFD35509-A50E-4F1A-1F92-4E8117825B22}"/>
              </a:ext>
            </a:extLst>
          </p:cNvPr>
          <p:cNvSpPr txBox="1"/>
          <p:nvPr/>
        </p:nvSpPr>
        <p:spPr>
          <a:xfrm>
            <a:off x="541422" y="1991735"/>
            <a:ext cx="6128084" cy="3293209"/>
          </a:xfrm>
          <a:prstGeom prst="rect">
            <a:avLst/>
          </a:prstGeom>
          <a:noFill/>
        </p:spPr>
        <p:txBody>
          <a:bodyPr wrap="square" rtlCol="0">
            <a:spAutoFit/>
          </a:bodyPr>
          <a:lstStyle/>
          <a:p>
            <a:r>
              <a:rPr lang="pt-BR" sz="1600" dirty="0">
                <a:latin typeface="Crimson Text" pitchFamily="2" charset="0"/>
              </a:rPr>
              <a:t>Porém, se os votos aproximam essas ordens entre si, seus caminhos revelam diferenças profundas. Algumas guardam o silêncio dos claustros, onde cada cela é um pequeno deserto habitado por Deus. Outras caminham pelas cidades, sendo oásis discretos no tumulto das ruas. Há quem encontre sua morada definitiva em um mosteiro e quem siga para longe, em missões que cruzam mares e nações.</a:t>
            </a:r>
          </a:p>
          <a:p>
            <a:endParaRPr lang="pt-BR" sz="1600" dirty="0">
              <a:latin typeface="Crimson Text" pitchFamily="2" charset="0"/>
            </a:endParaRPr>
          </a:p>
          <a:p>
            <a:r>
              <a:rPr lang="pt-BR" sz="1600" dirty="0">
                <a:latin typeface="Crimson Text" pitchFamily="2" charset="0"/>
              </a:rPr>
              <a:t> Assim, o peregrino descobre que a Igreja não é apenas um templo, mas um vasto campo onde brilham estandartes múltiplos de um mesmo Rei. Antes de avançar por esse campo sagrado, aproximemo-nos do primeiro estandarte hasteado na história monástica do Ocidente. Ali, onde o sino chama e o salmo responde, vivem os Beneditinos, sentinelas da aurora cristã.</a:t>
            </a:r>
          </a:p>
        </p:txBody>
      </p:sp>
      <p:sp>
        <p:nvSpPr>
          <p:cNvPr id="9" name="Espaço Reservado para Número de Slide 8">
            <a:extLst>
              <a:ext uri="{FF2B5EF4-FFF2-40B4-BE49-F238E27FC236}">
                <a16:creationId xmlns:a16="http://schemas.microsoft.com/office/drawing/2014/main" id="{65D93FDC-CA0F-1407-D903-607A97D37F72}"/>
              </a:ext>
            </a:extLst>
          </p:cNvPr>
          <p:cNvSpPr>
            <a:spLocks noGrp="1"/>
          </p:cNvSpPr>
          <p:nvPr>
            <p:ph type="sldNum" sz="quarter" idx="12"/>
          </p:nvPr>
        </p:nvSpPr>
        <p:spPr/>
        <p:txBody>
          <a:bodyPr/>
          <a:lstStyle/>
          <a:p>
            <a:fld id="{9A399360-F993-465D-8DB3-70366CB522FF}" type="slidenum">
              <a:rPr lang="pt-BR" smtClean="0"/>
              <a:t>6</a:t>
            </a:fld>
            <a:endParaRPr lang="pt-BR"/>
          </a:p>
        </p:txBody>
      </p:sp>
    </p:spTree>
    <p:extLst>
      <p:ext uri="{BB962C8B-B14F-4D97-AF65-F5344CB8AC3E}">
        <p14:creationId xmlns:p14="http://schemas.microsoft.com/office/powerpoint/2010/main" val="2250916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E5B3-46A0-C949-EDFF-B4E827DB0CC9}"/>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4120A17A-C335-5C11-EF9B-134AD46CF62B}"/>
              </a:ext>
            </a:extLst>
          </p:cNvPr>
          <p:cNvSpPr/>
          <p:nvPr/>
        </p:nvSpPr>
        <p:spPr>
          <a:xfrm>
            <a:off x="0" y="0"/>
            <a:ext cx="6858000" cy="9906000"/>
          </a:xfrm>
          <a:prstGeom prst="rect">
            <a:avLst/>
          </a:prstGeom>
          <a:solidFill>
            <a:srgbClr val="74360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
            <a:extLst>
              <a:ext uri="{FF2B5EF4-FFF2-40B4-BE49-F238E27FC236}">
                <a16:creationId xmlns:a16="http://schemas.microsoft.com/office/drawing/2014/main" id="{5F6557FC-2AA0-8A33-FFB2-ABFA7AD412D9}"/>
              </a:ext>
            </a:extLst>
          </p:cNvPr>
          <p:cNvSpPr txBox="1"/>
          <p:nvPr/>
        </p:nvSpPr>
        <p:spPr>
          <a:xfrm>
            <a:off x="258679" y="4953000"/>
            <a:ext cx="6340642" cy="830997"/>
          </a:xfrm>
          <a:prstGeom prst="rect">
            <a:avLst/>
          </a:prstGeom>
          <a:noFill/>
        </p:spPr>
        <p:txBody>
          <a:bodyPr wrap="square">
            <a:spAutoFit/>
          </a:bodyPr>
          <a:lstStyle/>
          <a:p>
            <a:pPr algn="ctr"/>
            <a:r>
              <a:rPr lang="pt-BR" sz="2400" dirty="0">
                <a:solidFill>
                  <a:schemeClr val="bg1"/>
                </a:solidFill>
                <a:latin typeface="Playfair Display" pitchFamily="2" charset="0"/>
              </a:rPr>
              <a:t>SANTA ORDEM BENEDITINA:</a:t>
            </a:r>
          </a:p>
          <a:p>
            <a:pPr algn="ctr"/>
            <a:r>
              <a:rPr lang="pt-BR" sz="2400" dirty="0">
                <a:solidFill>
                  <a:schemeClr val="bg1"/>
                </a:solidFill>
                <a:latin typeface="Playfair Display" pitchFamily="2" charset="0"/>
              </a:rPr>
              <a:t>A REGRA QUE MOLDOU O OCIDENTE</a:t>
            </a:r>
            <a:endParaRPr lang="pt-BR" sz="2400" dirty="0">
              <a:solidFill>
                <a:schemeClr val="bg1"/>
              </a:solidFill>
              <a:latin typeface="Crimson Text SemiBold" pitchFamily="2" charset="0"/>
            </a:endParaRPr>
          </a:p>
        </p:txBody>
      </p:sp>
      <p:sp>
        <p:nvSpPr>
          <p:cNvPr id="5" name="Titulo">
            <a:extLst>
              <a:ext uri="{FF2B5EF4-FFF2-40B4-BE49-F238E27FC236}">
                <a16:creationId xmlns:a16="http://schemas.microsoft.com/office/drawing/2014/main" id="{4438FD22-35B1-F315-6346-076346266E75}"/>
              </a:ext>
            </a:extLst>
          </p:cNvPr>
          <p:cNvSpPr txBox="1"/>
          <p:nvPr/>
        </p:nvSpPr>
        <p:spPr>
          <a:xfrm>
            <a:off x="258679" y="1198715"/>
            <a:ext cx="6340642" cy="3539430"/>
          </a:xfrm>
          <a:prstGeom prst="rect">
            <a:avLst/>
          </a:prstGeom>
          <a:noFill/>
        </p:spPr>
        <p:txBody>
          <a:bodyPr wrap="square">
            <a:spAutoFit/>
          </a:bodyPr>
          <a:lstStyle/>
          <a:p>
            <a:pPr algn="ctr"/>
            <a:r>
              <a:rPr lang="pt-BR" sz="22400" dirty="0">
                <a:ln>
                  <a:solidFill>
                    <a:schemeClr val="bg1"/>
                  </a:solidFill>
                </a:ln>
                <a:noFill/>
                <a:latin typeface="Playfair Display" pitchFamily="2" charset="0"/>
              </a:rPr>
              <a:t>02</a:t>
            </a:r>
          </a:p>
        </p:txBody>
      </p:sp>
      <p:sp>
        <p:nvSpPr>
          <p:cNvPr id="6" name="Retângulo 5">
            <a:extLst>
              <a:ext uri="{FF2B5EF4-FFF2-40B4-BE49-F238E27FC236}">
                <a16:creationId xmlns:a16="http://schemas.microsoft.com/office/drawing/2014/main" id="{1C22E5A9-307E-EDCD-07F8-12E6B05520E7}"/>
              </a:ext>
            </a:extLst>
          </p:cNvPr>
          <p:cNvSpPr/>
          <p:nvPr/>
        </p:nvSpPr>
        <p:spPr>
          <a:xfrm>
            <a:off x="493294" y="5829208"/>
            <a:ext cx="5871411" cy="144364"/>
          </a:xfrm>
          <a:prstGeom prst="rect">
            <a:avLst/>
          </a:prstGeom>
          <a:gradFill flip="none" rotWithShape="1">
            <a:gsLst>
              <a:gs pos="0">
                <a:srgbClr val="FEE485"/>
              </a:gs>
              <a:gs pos="74000">
                <a:srgbClr val="CA8335"/>
              </a:gs>
              <a:gs pos="83000">
                <a:srgbClr val="8A4E1C"/>
              </a:gs>
              <a:gs pos="100000">
                <a:srgbClr val="8A4E1C"/>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Titulo">
            <a:extLst>
              <a:ext uri="{FF2B5EF4-FFF2-40B4-BE49-F238E27FC236}">
                <a16:creationId xmlns:a16="http://schemas.microsoft.com/office/drawing/2014/main" id="{204DB96D-24E5-238D-7055-B80C6D86ED2F}"/>
              </a:ext>
            </a:extLst>
          </p:cNvPr>
          <p:cNvSpPr txBox="1"/>
          <p:nvPr/>
        </p:nvSpPr>
        <p:spPr>
          <a:xfrm>
            <a:off x="258679" y="5998852"/>
            <a:ext cx="6340642" cy="338554"/>
          </a:xfrm>
          <a:prstGeom prst="rect">
            <a:avLst/>
          </a:prstGeom>
          <a:noFill/>
        </p:spPr>
        <p:txBody>
          <a:bodyPr wrap="square">
            <a:spAutoFit/>
          </a:bodyPr>
          <a:lstStyle/>
          <a:p>
            <a:pPr algn="ctr"/>
            <a:r>
              <a:rPr lang="pt-BR" sz="1600" dirty="0">
                <a:solidFill>
                  <a:schemeClr val="bg1"/>
                </a:solidFill>
                <a:latin typeface="Crimson Text" pitchFamily="2" charset="0"/>
              </a:rPr>
              <a:t>Colocar texto aqui</a:t>
            </a:r>
          </a:p>
        </p:txBody>
      </p:sp>
      <p:sp>
        <p:nvSpPr>
          <p:cNvPr id="10" name="Espaço Reservado para Número de Slide 9">
            <a:extLst>
              <a:ext uri="{FF2B5EF4-FFF2-40B4-BE49-F238E27FC236}">
                <a16:creationId xmlns:a16="http://schemas.microsoft.com/office/drawing/2014/main" id="{F703965D-DBE0-7973-CA1E-657658255EE7}"/>
              </a:ext>
            </a:extLst>
          </p:cNvPr>
          <p:cNvSpPr>
            <a:spLocks noGrp="1"/>
          </p:cNvSpPr>
          <p:nvPr>
            <p:ph type="sldNum" sz="quarter" idx="12"/>
          </p:nvPr>
        </p:nvSpPr>
        <p:spPr/>
        <p:txBody>
          <a:bodyPr/>
          <a:lstStyle/>
          <a:p>
            <a:fld id="{9A399360-F993-465D-8DB3-70366CB522FF}" type="slidenum">
              <a:rPr lang="pt-BR" smtClean="0"/>
              <a:t>7</a:t>
            </a:fld>
            <a:endParaRPr lang="pt-BR"/>
          </a:p>
        </p:txBody>
      </p:sp>
      <p:sp>
        <p:nvSpPr>
          <p:cNvPr id="4" name="CaixaDeTexto 3">
            <a:extLst>
              <a:ext uri="{FF2B5EF4-FFF2-40B4-BE49-F238E27FC236}">
                <a16:creationId xmlns:a16="http://schemas.microsoft.com/office/drawing/2014/main" id="{744E3BA0-EB13-7ACA-97E4-9B9D2E5BE69D}"/>
              </a:ext>
            </a:extLst>
          </p:cNvPr>
          <p:cNvSpPr txBox="1"/>
          <p:nvPr/>
        </p:nvSpPr>
        <p:spPr>
          <a:xfrm>
            <a:off x="218485" y="5081798"/>
            <a:ext cx="267037" cy="461665"/>
          </a:xfrm>
          <a:prstGeom prst="rect">
            <a:avLst/>
          </a:prstGeom>
          <a:noFill/>
        </p:spPr>
        <p:txBody>
          <a:bodyPr wrap="square" rtlCol="0">
            <a:spAutoFit/>
          </a:bodyPr>
          <a:lstStyle/>
          <a:p>
            <a:r>
              <a:rPr lang="pt-BR" sz="2400" dirty="0">
                <a:solidFill>
                  <a:schemeClr val="bg1"/>
                </a:solidFill>
                <a:latin typeface="Playfair Display" pitchFamily="2" charset="0"/>
              </a:rPr>
              <a:t>✠</a:t>
            </a:r>
          </a:p>
        </p:txBody>
      </p:sp>
      <p:sp>
        <p:nvSpPr>
          <p:cNvPr id="8" name="CaixaDeTexto 7">
            <a:extLst>
              <a:ext uri="{FF2B5EF4-FFF2-40B4-BE49-F238E27FC236}">
                <a16:creationId xmlns:a16="http://schemas.microsoft.com/office/drawing/2014/main" id="{0AA7E0B8-2500-FE50-0305-F0B03380324E}"/>
              </a:ext>
            </a:extLst>
          </p:cNvPr>
          <p:cNvSpPr txBox="1"/>
          <p:nvPr/>
        </p:nvSpPr>
        <p:spPr>
          <a:xfrm>
            <a:off x="6197125" y="5088542"/>
            <a:ext cx="267037" cy="461665"/>
          </a:xfrm>
          <a:prstGeom prst="rect">
            <a:avLst/>
          </a:prstGeom>
          <a:noFill/>
        </p:spPr>
        <p:txBody>
          <a:bodyPr wrap="square" rtlCol="0">
            <a:spAutoFit/>
          </a:bodyPr>
          <a:lstStyle/>
          <a:p>
            <a:r>
              <a:rPr lang="pt-BR" sz="2400" dirty="0">
                <a:solidFill>
                  <a:schemeClr val="bg1"/>
                </a:solidFill>
                <a:latin typeface="Playfair Display" pitchFamily="2" charset="0"/>
              </a:rPr>
              <a:t>✠</a:t>
            </a:r>
          </a:p>
        </p:txBody>
      </p:sp>
    </p:spTree>
    <p:extLst>
      <p:ext uri="{BB962C8B-B14F-4D97-AF65-F5344CB8AC3E}">
        <p14:creationId xmlns:p14="http://schemas.microsoft.com/office/powerpoint/2010/main" val="1172418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65C4F-9FD4-A539-201F-9C05D11B3D7A}"/>
            </a:ext>
          </a:extLst>
        </p:cNvPr>
        <p:cNvGrpSpPr/>
        <p:nvPr/>
      </p:nvGrpSpPr>
      <p:grpSpPr>
        <a:xfrm>
          <a:off x="0" y="0"/>
          <a:ext cx="0" cy="0"/>
          <a:chOff x="0" y="0"/>
          <a:chExt cx="0" cy="0"/>
        </a:xfrm>
      </p:grpSpPr>
      <p:sp>
        <p:nvSpPr>
          <p:cNvPr id="8" name="SubTitulo">
            <a:extLst>
              <a:ext uri="{FF2B5EF4-FFF2-40B4-BE49-F238E27FC236}">
                <a16:creationId xmlns:a16="http://schemas.microsoft.com/office/drawing/2014/main" id="{EF67C305-0CE3-759F-5248-5C8BF5C194F7}"/>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Lema e Brasão da Ordem Beneditina</a:t>
            </a:r>
          </a:p>
        </p:txBody>
      </p:sp>
      <p:sp>
        <p:nvSpPr>
          <p:cNvPr id="6" name="Titulo">
            <a:extLst>
              <a:ext uri="{FF2B5EF4-FFF2-40B4-BE49-F238E27FC236}">
                <a16:creationId xmlns:a16="http://schemas.microsoft.com/office/drawing/2014/main" id="{3336DF16-4A00-E2AD-8F05-584B76001763}"/>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Santa Ordem Beneditina:</a:t>
            </a:r>
          </a:p>
        </p:txBody>
      </p:sp>
      <p:sp>
        <p:nvSpPr>
          <p:cNvPr id="2" name="Retângulo 1">
            <a:extLst>
              <a:ext uri="{FF2B5EF4-FFF2-40B4-BE49-F238E27FC236}">
                <a16:creationId xmlns:a16="http://schemas.microsoft.com/office/drawing/2014/main" id="{07ED9E0A-12C4-CAF5-EAFC-7320F5EE294C}"/>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6D8B0776-0542-817B-C6A1-4868E80B36D0}"/>
              </a:ext>
            </a:extLst>
          </p:cNvPr>
          <p:cNvSpPr txBox="1"/>
          <p:nvPr/>
        </p:nvSpPr>
        <p:spPr>
          <a:xfrm>
            <a:off x="3237748" y="1681958"/>
            <a:ext cx="312821" cy="369332"/>
          </a:xfrm>
          <a:prstGeom prst="rect">
            <a:avLst/>
          </a:prstGeom>
          <a:noFill/>
        </p:spPr>
        <p:txBody>
          <a:bodyPr wrap="square" rtlCol="0">
            <a:spAutoFit/>
          </a:bodyPr>
          <a:lstStyle/>
          <a:p>
            <a:r>
              <a:rPr lang="pt-BR" dirty="0"/>
              <a:t>✠</a:t>
            </a:r>
          </a:p>
        </p:txBody>
      </p:sp>
      <p:sp>
        <p:nvSpPr>
          <p:cNvPr id="5" name="Texto">
            <a:extLst>
              <a:ext uri="{FF2B5EF4-FFF2-40B4-BE49-F238E27FC236}">
                <a16:creationId xmlns:a16="http://schemas.microsoft.com/office/drawing/2014/main" id="{3AD60A84-5DFF-1576-4651-DFE4A1FEBDD0}"/>
              </a:ext>
            </a:extLst>
          </p:cNvPr>
          <p:cNvSpPr txBox="1"/>
          <p:nvPr/>
        </p:nvSpPr>
        <p:spPr>
          <a:xfrm>
            <a:off x="541422" y="1991735"/>
            <a:ext cx="6128084" cy="3847207"/>
          </a:xfrm>
          <a:prstGeom prst="rect">
            <a:avLst/>
          </a:prstGeom>
          <a:noFill/>
        </p:spPr>
        <p:txBody>
          <a:bodyPr wrap="square" rtlCol="0">
            <a:spAutoFit/>
          </a:bodyPr>
          <a:lstStyle/>
          <a:p>
            <a:r>
              <a:rPr lang="pt-BR" sz="1600" dirty="0">
                <a:latin typeface="Crimson Text" pitchFamily="2" charset="0"/>
              </a:rPr>
              <a:t>†Lema da Ordem:</a:t>
            </a:r>
          </a:p>
          <a:p>
            <a:endParaRPr lang="pt-BR" sz="1600" dirty="0">
              <a:latin typeface="Crimson Text" pitchFamily="2" charset="0"/>
            </a:endParaRPr>
          </a:p>
          <a:p>
            <a:pPr>
              <a:buNone/>
            </a:pPr>
            <a:r>
              <a:rPr lang="pt-BR" sz="1600" b="1" dirty="0">
                <a:latin typeface="Crimson Text" pitchFamily="2" charset="0"/>
              </a:rPr>
              <a:t>Ora et Labora</a:t>
            </a:r>
            <a:br>
              <a:rPr lang="pt-BR" sz="1600" dirty="0">
                <a:latin typeface="Crimson Text" pitchFamily="2" charset="0"/>
              </a:rPr>
            </a:br>
            <a:r>
              <a:rPr lang="pt-BR" sz="1600" i="1" dirty="0">
                <a:latin typeface="Crimson Text" pitchFamily="2" charset="0"/>
              </a:rPr>
              <a:t>Reza e Trabalha</a:t>
            </a:r>
          </a:p>
          <a:p>
            <a:pPr>
              <a:buNone/>
            </a:pPr>
            <a:endParaRPr lang="pt-BR" sz="1600" dirty="0">
              <a:latin typeface="Crimson Text" pitchFamily="2" charset="0"/>
            </a:endParaRPr>
          </a:p>
          <a:p>
            <a:pPr>
              <a:buNone/>
            </a:pPr>
            <a:r>
              <a:rPr lang="pt-BR" sz="1600" dirty="0">
                <a:latin typeface="Crimson Text" pitchFamily="2" charset="0"/>
              </a:rPr>
              <a:t>Não como duas tarefas, mas como um único movimento do coração:</a:t>
            </a:r>
            <a:br>
              <a:rPr lang="pt-BR" sz="1600" dirty="0">
                <a:latin typeface="Crimson Text" pitchFamily="2" charset="0"/>
              </a:rPr>
            </a:br>
            <a:r>
              <a:rPr lang="pt-BR" sz="1600" dirty="0">
                <a:latin typeface="Crimson Text" pitchFamily="2" charset="0"/>
              </a:rPr>
              <a:t>o trabalho torna-se oração, e a oração torna-se respiração da alma.</a:t>
            </a:r>
          </a:p>
          <a:p>
            <a:pPr>
              <a:buNone/>
            </a:pPr>
            <a:endParaRPr lang="pt-BR" sz="1600" dirty="0">
              <a:latin typeface="Crimson Text" pitchFamily="2" charset="0"/>
            </a:endParaRPr>
          </a:p>
          <a:p>
            <a:pPr>
              <a:buNone/>
            </a:pPr>
            <a:r>
              <a:rPr lang="pt-BR" sz="1600" dirty="0">
                <a:latin typeface="Crimson Text" pitchFamily="2" charset="0"/>
              </a:rPr>
              <a:t>† Símbolos Heráldicos Beneditinos</a:t>
            </a:r>
          </a:p>
          <a:p>
            <a:pPr>
              <a:buNone/>
            </a:pPr>
            <a:endParaRPr lang="pt-BR" sz="1600" dirty="0">
              <a:latin typeface="Crimson Text" pitchFamily="2" charset="0"/>
            </a:endParaRPr>
          </a:p>
          <a:p>
            <a:pPr>
              <a:buNone/>
            </a:pPr>
            <a:r>
              <a:rPr lang="pt-BR" sz="1600" dirty="0">
                <a:latin typeface="Crimson Text" pitchFamily="2" charset="0"/>
              </a:rPr>
              <a:t>A tradição beneditina consolidou, ao longo dos séculos, um conjunto de símbolos associados à sua Regra e espiritualidade:</a:t>
            </a:r>
          </a:p>
          <a:p>
            <a:pPr>
              <a:buNone/>
            </a:pPr>
            <a:endParaRPr lang="pt-BR" sz="1600" dirty="0">
              <a:latin typeface="Crimson Text" pitchFamily="2" charset="0"/>
            </a:endParaRPr>
          </a:p>
          <a:p>
            <a:pPr>
              <a:buNone/>
            </a:pPr>
            <a:endParaRPr lang="pt-BR" dirty="0"/>
          </a:p>
          <a:p>
            <a:endParaRPr lang="pt-BR" i="1" dirty="0"/>
          </a:p>
        </p:txBody>
      </p:sp>
      <p:sp>
        <p:nvSpPr>
          <p:cNvPr id="9" name="Espaço Reservado para Número de Slide 8">
            <a:extLst>
              <a:ext uri="{FF2B5EF4-FFF2-40B4-BE49-F238E27FC236}">
                <a16:creationId xmlns:a16="http://schemas.microsoft.com/office/drawing/2014/main" id="{215D4C8C-193C-FCEC-DA13-781F81EACD45}"/>
              </a:ext>
            </a:extLst>
          </p:cNvPr>
          <p:cNvSpPr>
            <a:spLocks noGrp="1"/>
          </p:cNvSpPr>
          <p:nvPr>
            <p:ph type="sldNum" sz="quarter" idx="12"/>
          </p:nvPr>
        </p:nvSpPr>
        <p:spPr/>
        <p:txBody>
          <a:bodyPr/>
          <a:lstStyle/>
          <a:p>
            <a:fld id="{9A399360-F993-465D-8DB3-70366CB522FF}" type="slidenum">
              <a:rPr lang="pt-BR" smtClean="0"/>
              <a:t>8</a:t>
            </a:fld>
            <a:endParaRPr lang="pt-BR" dirty="0"/>
          </a:p>
        </p:txBody>
      </p:sp>
      <p:graphicFrame>
        <p:nvGraphicFramePr>
          <p:cNvPr id="7" name="Tabela 6">
            <a:extLst>
              <a:ext uri="{FF2B5EF4-FFF2-40B4-BE49-F238E27FC236}">
                <a16:creationId xmlns:a16="http://schemas.microsoft.com/office/drawing/2014/main" id="{4B077709-CF2A-122B-88DD-06898D6F3ECB}"/>
              </a:ext>
            </a:extLst>
          </p:cNvPr>
          <p:cNvGraphicFramePr>
            <a:graphicFrameLocks noGrp="1"/>
          </p:cNvGraphicFramePr>
          <p:nvPr>
            <p:extLst>
              <p:ext uri="{D42A27DB-BD31-4B8C-83A1-F6EECF244321}">
                <p14:modId xmlns:p14="http://schemas.microsoft.com/office/powerpoint/2010/main" val="3278470360"/>
              </p:ext>
            </p:extLst>
          </p:nvPr>
        </p:nvGraphicFramePr>
        <p:xfrm>
          <a:off x="541422" y="5174550"/>
          <a:ext cx="5915024" cy="3314700"/>
        </p:xfrm>
        <a:graphic>
          <a:graphicData uri="http://schemas.openxmlformats.org/drawingml/2006/table">
            <a:tbl>
              <a:tblPr>
                <a:tableStyleId>{284E427A-3D55-4303-BF80-6455036E1DE7}</a:tableStyleId>
              </a:tblPr>
              <a:tblGrid>
                <a:gridCol w="2957512">
                  <a:extLst>
                    <a:ext uri="{9D8B030D-6E8A-4147-A177-3AD203B41FA5}">
                      <a16:colId xmlns:a16="http://schemas.microsoft.com/office/drawing/2014/main" val="2001280071"/>
                    </a:ext>
                  </a:extLst>
                </a:gridCol>
                <a:gridCol w="2957512">
                  <a:extLst>
                    <a:ext uri="{9D8B030D-6E8A-4147-A177-3AD203B41FA5}">
                      <a16:colId xmlns:a16="http://schemas.microsoft.com/office/drawing/2014/main" val="4286759648"/>
                    </a:ext>
                  </a:extLst>
                </a:gridCol>
              </a:tblGrid>
              <a:tr h="297180">
                <a:tc>
                  <a:txBody>
                    <a:bodyPr/>
                    <a:lstStyle/>
                    <a:p>
                      <a:pPr>
                        <a:buNone/>
                      </a:pPr>
                      <a:r>
                        <a:rPr lang="pt-BR" sz="1300" dirty="0">
                          <a:latin typeface="Crimson Text" pitchFamily="2" charset="0"/>
                        </a:rPr>
                        <a:t>Símbolo</a:t>
                      </a:r>
                    </a:p>
                  </a:txBody>
                  <a:tcPr anchor="ctr">
                    <a:solidFill>
                      <a:srgbClr val="FEE485"/>
                    </a:solidFill>
                  </a:tcPr>
                </a:tc>
                <a:tc>
                  <a:txBody>
                    <a:bodyPr/>
                    <a:lstStyle/>
                    <a:p>
                      <a:pPr>
                        <a:buNone/>
                      </a:pPr>
                      <a:r>
                        <a:rPr lang="pt-BR" sz="1300" dirty="0">
                          <a:latin typeface="Crimson Text" pitchFamily="2" charset="0"/>
                        </a:rPr>
                        <a:t>Significado espiritual</a:t>
                      </a:r>
                    </a:p>
                  </a:txBody>
                  <a:tcPr anchor="ctr">
                    <a:solidFill>
                      <a:srgbClr val="FEE485"/>
                    </a:solidFill>
                  </a:tcPr>
                </a:tc>
                <a:extLst>
                  <a:ext uri="{0D108BD9-81ED-4DB2-BD59-A6C34878D82A}">
                    <a16:rowId xmlns:a16="http://schemas.microsoft.com/office/drawing/2014/main" val="3959231226"/>
                  </a:ext>
                </a:extLst>
              </a:tr>
              <a:tr h="502920">
                <a:tc>
                  <a:txBody>
                    <a:bodyPr/>
                    <a:lstStyle/>
                    <a:p>
                      <a:pPr>
                        <a:buNone/>
                      </a:pPr>
                      <a:r>
                        <a:rPr lang="pt-BR" sz="1300" b="1" dirty="0">
                          <a:latin typeface="Crimson Text" pitchFamily="2" charset="0"/>
                        </a:rPr>
                        <a:t>Cruz de São Bento</a:t>
                      </a:r>
                      <a:endParaRPr lang="pt-BR" sz="1300" dirty="0">
                        <a:latin typeface="Crimson Text" pitchFamily="2" charset="0"/>
                      </a:endParaRPr>
                    </a:p>
                  </a:txBody>
                  <a:tcPr anchor="ctr">
                    <a:solidFill>
                      <a:srgbClr val="FEE485"/>
                    </a:solidFill>
                  </a:tcPr>
                </a:tc>
                <a:tc>
                  <a:txBody>
                    <a:bodyPr/>
                    <a:lstStyle/>
                    <a:p>
                      <a:pPr>
                        <a:buNone/>
                      </a:pPr>
                      <a:r>
                        <a:rPr lang="pt-BR" sz="1300">
                          <a:latin typeface="Crimson Text" pitchFamily="2" charset="0"/>
                        </a:rPr>
                        <a:t>Proteção contra o mal, fidelidade à Cruz de Cristo</a:t>
                      </a:r>
                    </a:p>
                  </a:txBody>
                  <a:tcPr anchor="ctr">
                    <a:solidFill>
                      <a:srgbClr val="FEE485"/>
                    </a:solidFill>
                  </a:tcPr>
                </a:tc>
                <a:extLst>
                  <a:ext uri="{0D108BD9-81ED-4DB2-BD59-A6C34878D82A}">
                    <a16:rowId xmlns:a16="http://schemas.microsoft.com/office/drawing/2014/main" val="3465517025"/>
                  </a:ext>
                </a:extLst>
              </a:tr>
              <a:tr h="502920">
                <a:tc>
                  <a:txBody>
                    <a:bodyPr/>
                    <a:lstStyle/>
                    <a:p>
                      <a:pPr>
                        <a:buNone/>
                      </a:pPr>
                      <a:r>
                        <a:rPr lang="pt-BR" sz="1300" b="1" dirty="0">
                          <a:latin typeface="Crimson Text" pitchFamily="2" charset="0"/>
                        </a:rPr>
                        <a:t>Livro da Regra</a:t>
                      </a:r>
                      <a:endParaRPr lang="pt-BR" sz="1300" dirty="0">
                        <a:latin typeface="Crimson Text" pitchFamily="2" charset="0"/>
                      </a:endParaRPr>
                    </a:p>
                  </a:txBody>
                  <a:tcPr anchor="ctr">
                    <a:solidFill>
                      <a:srgbClr val="FEE485"/>
                    </a:solidFill>
                  </a:tcPr>
                </a:tc>
                <a:tc>
                  <a:txBody>
                    <a:bodyPr/>
                    <a:lstStyle/>
                    <a:p>
                      <a:pPr>
                        <a:buNone/>
                      </a:pPr>
                      <a:r>
                        <a:rPr lang="pt-BR" sz="1300" dirty="0">
                          <a:latin typeface="Crimson Text" pitchFamily="2" charset="0"/>
                        </a:rPr>
                        <a:t>Sabedoria que organiza a vida espiritual e comunitária</a:t>
                      </a:r>
                    </a:p>
                  </a:txBody>
                  <a:tcPr anchor="ctr">
                    <a:solidFill>
                      <a:srgbClr val="FEE485"/>
                    </a:solidFill>
                  </a:tcPr>
                </a:tc>
                <a:extLst>
                  <a:ext uri="{0D108BD9-81ED-4DB2-BD59-A6C34878D82A}">
                    <a16:rowId xmlns:a16="http://schemas.microsoft.com/office/drawing/2014/main" val="3996475535"/>
                  </a:ext>
                </a:extLst>
              </a:tr>
              <a:tr h="502920">
                <a:tc>
                  <a:txBody>
                    <a:bodyPr/>
                    <a:lstStyle/>
                    <a:p>
                      <a:pPr>
                        <a:buNone/>
                      </a:pPr>
                      <a:r>
                        <a:rPr lang="pt-BR" sz="1300" b="1" dirty="0">
                          <a:latin typeface="Crimson Text" pitchFamily="2" charset="0"/>
                        </a:rPr>
                        <a:t>Cálice com serpente</a:t>
                      </a:r>
                      <a:endParaRPr lang="pt-BR" sz="1300" dirty="0">
                        <a:latin typeface="Crimson Text" pitchFamily="2" charset="0"/>
                      </a:endParaRPr>
                    </a:p>
                  </a:txBody>
                  <a:tcPr anchor="ctr">
                    <a:solidFill>
                      <a:srgbClr val="FEE485"/>
                    </a:solidFill>
                  </a:tcPr>
                </a:tc>
                <a:tc>
                  <a:txBody>
                    <a:bodyPr/>
                    <a:lstStyle/>
                    <a:p>
                      <a:pPr>
                        <a:buNone/>
                      </a:pPr>
                      <a:r>
                        <a:rPr lang="pt-BR" sz="1300" dirty="0">
                          <a:latin typeface="Crimson Text" pitchFamily="2" charset="0"/>
                        </a:rPr>
                        <a:t>Vitória de São Bento sobre o veneno do inimigo</a:t>
                      </a:r>
                    </a:p>
                  </a:txBody>
                  <a:tcPr anchor="ctr">
                    <a:solidFill>
                      <a:srgbClr val="FEE485"/>
                    </a:solidFill>
                  </a:tcPr>
                </a:tc>
                <a:extLst>
                  <a:ext uri="{0D108BD9-81ED-4DB2-BD59-A6C34878D82A}">
                    <a16:rowId xmlns:a16="http://schemas.microsoft.com/office/drawing/2014/main" val="3285291718"/>
                  </a:ext>
                </a:extLst>
              </a:tr>
              <a:tr h="502920">
                <a:tc>
                  <a:txBody>
                    <a:bodyPr/>
                    <a:lstStyle/>
                    <a:p>
                      <a:pPr>
                        <a:buNone/>
                      </a:pPr>
                      <a:r>
                        <a:rPr lang="pt-BR" sz="1300" b="1" dirty="0">
                          <a:latin typeface="Crimson Text" pitchFamily="2" charset="0"/>
                        </a:rPr>
                        <a:t>Corvo</a:t>
                      </a:r>
                      <a:endParaRPr lang="pt-BR" sz="1300" dirty="0">
                        <a:latin typeface="Crimson Text" pitchFamily="2" charset="0"/>
                      </a:endParaRPr>
                    </a:p>
                  </a:txBody>
                  <a:tcPr anchor="ctr">
                    <a:solidFill>
                      <a:srgbClr val="FEE485"/>
                    </a:solidFill>
                  </a:tcPr>
                </a:tc>
                <a:tc>
                  <a:txBody>
                    <a:bodyPr/>
                    <a:lstStyle/>
                    <a:p>
                      <a:pPr>
                        <a:buNone/>
                      </a:pPr>
                      <a:r>
                        <a:rPr lang="pt-BR" sz="1300" dirty="0">
                          <a:latin typeface="Crimson Text" pitchFamily="2" charset="0"/>
                        </a:rPr>
                        <a:t>Obediência da criação a Deus e proteção do santo contra o mal</a:t>
                      </a:r>
                    </a:p>
                  </a:txBody>
                  <a:tcPr anchor="ctr">
                    <a:solidFill>
                      <a:srgbClr val="FEE485"/>
                    </a:solidFill>
                  </a:tcPr>
                </a:tc>
                <a:extLst>
                  <a:ext uri="{0D108BD9-81ED-4DB2-BD59-A6C34878D82A}">
                    <a16:rowId xmlns:a16="http://schemas.microsoft.com/office/drawing/2014/main" val="1229639427"/>
                  </a:ext>
                </a:extLst>
              </a:tr>
              <a:tr h="502920">
                <a:tc>
                  <a:txBody>
                    <a:bodyPr/>
                    <a:lstStyle/>
                    <a:p>
                      <a:pPr>
                        <a:buNone/>
                      </a:pPr>
                      <a:r>
                        <a:rPr lang="pt-BR" sz="1300" b="1" dirty="0">
                          <a:latin typeface="Crimson Text" pitchFamily="2" charset="0"/>
                        </a:rPr>
                        <a:t>Abadia/Mosteiro</a:t>
                      </a:r>
                      <a:endParaRPr lang="pt-BR" sz="1300" dirty="0">
                        <a:latin typeface="Crimson Text" pitchFamily="2" charset="0"/>
                      </a:endParaRPr>
                    </a:p>
                  </a:txBody>
                  <a:tcPr anchor="ctr">
                    <a:solidFill>
                      <a:srgbClr val="FEE485"/>
                    </a:solidFill>
                  </a:tcPr>
                </a:tc>
                <a:tc>
                  <a:txBody>
                    <a:bodyPr/>
                    <a:lstStyle/>
                    <a:p>
                      <a:pPr>
                        <a:buNone/>
                      </a:pPr>
                      <a:r>
                        <a:rPr lang="pt-BR" sz="1300" dirty="0">
                          <a:latin typeface="Crimson Text" pitchFamily="2" charset="0"/>
                        </a:rPr>
                        <a:t>Lugar de estabilidade, oração e trabalho santificado</a:t>
                      </a:r>
                    </a:p>
                  </a:txBody>
                  <a:tcPr anchor="ctr">
                    <a:solidFill>
                      <a:srgbClr val="FEE485"/>
                    </a:solidFill>
                  </a:tcPr>
                </a:tc>
                <a:extLst>
                  <a:ext uri="{0D108BD9-81ED-4DB2-BD59-A6C34878D82A}">
                    <a16:rowId xmlns:a16="http://schemas.microsoft.com/office/drawing/2014/main" val="938859395"/>
                  </a:ext>
                </a:extLst>
              </a:tr>
              <a:tr h="502920">
                <a:tc>
                  <a:txBody>
                    <a:bodyPr/>
                    <a:lstStyle/>
                    <a:p>
                      <a:pPr>
                        <a:buNone/>
                      </a:pPr>
                      <a:r>
                        <a:rPr lang="pt-BR" sz="1300" b="1" dirty="0">
                          <a:latin typeface="Crimson Text" pitchFamily="2" charset="0"/>
                        </a:rPr>
                        <a:t>Ramos ou espigas</a:t>
                      </a:r>
                      <a:endParaRPr lang="pt-BR" sz="1300" dirty="0">
                        <a:latin typeface="Crimson Text" pitchFamily="2" charset="0"/>
                      </a:endParaRPr>
                    </a:p>
                  </a:txBody>
                  <a:tcPr anchor="ctr">
                    <a:solidFill>
                      <a:srgbClr val="FEE485"/>
                    </a:solidFill>
                  </a:tcPr>
                </a:tc>
                <a:tc>
                  <a:txBody>
                    <a:bodyPr/>
                    <a:lstStyle/>
                    <a:p>
                      <a:pPr>
                        <a:buNone/>
                      </a:pPr>
                      <a:r>
                        <a:rPr lang="pt-BR" sz="1300" dirty="0">
                          <a:latin typeface="Crimson Text" pitchFamily="2" charset="0"/>
                        </a:rPr>
                        <a:t>Fruto do labor, sustento da comunidade, simplicidade</a:t>
                      </a:r>
                    </a:p>
                  </a:txBody>
                  <a:tcPr anchor="ctr">
                    <a:solidFill>
                      <a:srgbClr val="FEE485"/>
                    </a:solidFill>
                  </a:tcPr>
                </a:tc>
                <a:extLst>
                  <a:ext uri="{0D108BD9-81ED-4DB2-BD59-A6C34878D82A}">
                    <a16:rowId xmlns:a16="http://schemas.microsoft.com/office/drawing/2014/main" val="3719239490"/>
                  </a:ext>
                </a:extLst>
              </a:tr>
            </a:tbl>
          </a:graphicData>
        </a:graphic>
      </p:graphicFrame>
      <p:sp>
        <p:nvSpPr>
          <p:cNvPr id="10" name="CaixaDeTexto 9">
            <a:extLst>
              <a:ext uri="{FF2B5EF4-FFF2-40B4-BE49-F238E27FC236}">
                <a16:creationId xmlns:a16="http://schemas.microsoft.com/office/drawing/2014/main" id="{E0F38B22-0609-7524-42CD-AB19AB79F4BF}"/>
              </a:ext>
            </a:extLst>
          </p:cNvPr>
          <p:cNvSpPr txBox="1"/>
          <p:nvPr/>
        </p:nvSpPr>
        <p:spPr>
          <a:xfrm>
            <a:off x="1581379" y="8858231"/>
            <a:ext cx="3695242" cy="646331"/>
          </a:xfrm>
          <a:prstGeom prst="rect">
            <a:avLst/>
          </a:prstGeom>
          <a:noFill/>
        </p:spPr>
        <p:txBody>
          <a:bodyPr wrap="none" rtlCol="0">
            <a:spAutoFit/>
          </a:bodyPr>
          <a:lstStyle/>
          <a:p>
            <a:r>
              <a:rPr lang="pt-BR" b="1" dirty="0">
                <a:latin typeface="Crimson Text" pitchFamily="2" charset="0"/>
              </a:rPr>
              <a:t>“Nada se anteponha ao amor de Cristo.”</a:t>
            </a:r>
          </a:p>
          <a:p>
            <a:r>
              <a:rPr lang="pt-BR" dirty="0">
                <a:latin typeface="Crimson Text" pitchFamily="2" charset="0"/>
              </a:rPr>
              <a:t>– Regra de São Bento, cap. IV</a:t>
            </a:r>
          </a:p>
        </p:txBody>
      </p:sp>
    </p:spTree>
    <p:extLst>
      <p:ext uri="{BB962C8B-B14F-4D97-AF65-F5344CB8AC3E}">
        <p14:creationId xmlns:p14="http://schemas.microsoft.com/office/powerpoint/2010/main" val="2745756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39C88-7778-D6E9-492B-48C1CF5A190C}"/>
            </a:ext>
          </a:extLst>
        </p:cNvPr>
        <p:cNvGrpSpPr/>
        <p:nvPr/>
      </p:nvGrpSpPr>
      <p:grpSpPr>
        <a:xfrm>
          <a:off x="0" y="0"/>
          <a:ext cx="0" cy="0"/>
          <a:chOff x="0" y="0"/>
          <a:chExt cx="0" cy="0"/>
        </a:xfrm>
      </p:grpSpPr>
      <p:sp>
        <p:nvSpPr>
          <p:cNvPr id="8" name="SubTitulo">
            <a:extLst>
              <a:ext uri="{FF2B5EF4-FFF2-40B4-BE49-F238E27FC236}">
                <a16:creationId xmlns:a16="http://schemas.microsoft.com/office/drawing/2014/main" id="{0D686F11-378F-BDB0-54A0-2F185DB5ACFF}"/>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Origens, Fundação e Expansão da Ordem</a:t>
            </a:r>
          </a:p>
        </p:txBody>
      </p:sp>
      <p:sp>
        <p:nvSpPr>
          <p:cNvPr id="6" name="Titulo">
            <a:extLst>
              <a:ext uri="{FF2B5EF4-FFF2-40B4-BE49-F238E27FC236}">
                <a16:creationId xmlns:a16="http://schemas.microsoft.com/office/drawing/2014/main" id="{C4293349-D1F7-DCBB-B4EB-528F8DFC6411}"/>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Santa Ordem Beneditina:</a:t>
            </a:r>
          </a:p>
        </p:txBody>
      </p:sp>
      <p:sp>
        <p:nvSpPr>
          <p:cNvPr id="2" name="Retângulo 1">
            <a:extLst>
              <a:ext uri="{FF2B5EF4-FFF2-40B4-BE49-F238E27FC236}">
                <a16:creationId xmlns:a16="http://schemas.microsoft.com/office/drawing/2014/main" id="{94DD3390-F324-71D7-E918-486B9945F5D8}"/>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89D431B9-89D5-44FB-C089-EB05853FBB3B}"/>
              </a:ext>
            </a:extLst>
          </p:cNvPr>
          <p:cNvSpPr txBox="1"/>
          <p:nvPr/>
        </p:nvSpPr>
        <p:spPr>
          <a:xfrm>
            <a:off x="3237748" y="1681958"/>
            <a:ext cx="312821" cy="369332"/>
          </a:xfrm>
          <a:prstGeom prst="rect">
            <a:avLst/>
          </a:prstGeom>
          <a:noFill/>
        </p:spPr>
        <p:txBody>
          <a:bodyPr wrap="square" rtlCol="0">
            <a:spAutoFit/>
          </a:bodyPr>
          <a:lstStyle/>
          <a:p>
            <a:r>
              <a:rPr lang="pt-BR" dirty="0"/>
              <a:t>✠</a:t>
            </a:r>
          </a:p>
        </p:txBody>
      </p:sp>
      <p:sp>
        <p:nvSpPr>
          <p:cNvPr id="5" name="Texto">
            <a:extLst>
              <a:ext uri="{FF2B5EF4-FFF2-40B4-BE49-F238E27FC236}">
                <a16:creationId xmlns:a16="http://schemas.microsoft.com/office/drawing/2014/main" id="{A13FAA67-241F-9F51-27BC-6A64ED15EA38}"/>
              </a:ext>
            </a:extLst>
          </p:cNvPr>
          <p:cNvSpPr txBox="1"/>
          <p:nvPr/>
        </p:nvSpPr>
        <p:spPr>
          <a:xfrm>
            <a:off x="541422" y="1991735"/>
            <a:ext cx="6128084" cy="4062651"/>
          </a:xfrm>
          <a:prstGeom prst="rect">
            <a:avLst/>
          </a:prstGeom>
          <a:noFill/>
        </p:spPr>
        <p:txBody>
          <a:bodyPr wrap="square" rtlCol="0">
            <a:spAutoFit/>
          </a:bodyPr>
          <a:lstStyle/>
          <a:p>
            <a:r>
              <a:rPr lang="pt-BR" sz="1600" dirty="0">
                <a:latin typeface="Crimson Text" pitchFamily="2" charset="0"/>
              </a:rPr>
              <a:t>A história da Ordem Beneditina tem início no coração do século VI, em uma Europa marcada pela queda do Império Romano do Ocidente e pela instabilidade política e cultural que se seguiu. Foi nesse cenário de ruínas, invasões e perda de referências intelectuais que surgiu a figura de São Bento de </a:t>
            </a:r>
            <a:r>
              <a:rPr lang="pt-BR" sz="1600" dirty="0" err="1">
                <a:latin typeface="Crimson Text" pitchFamily="2" charset="0"/>
              </a:rPr>
              <a:t>Núrsia</a:t>
            </a:r>
            <a:r>
              <a:rPr lang="pt-BR" sz="1600" dirty="0">
                <a:latin typeface="Crimson Text" pitchFamily="2" charset="0"/>
              </a:rPr>
              <a:t> (c. 480 – 547), considerado o Pai do Monasticismo Ocidental.</a:t>
            </a:r>
          </a:p>
          <a:p>
            <a:endParaRPr lang="pt-BR" sz="1600" dirty="0">
              <a:latin typeface="Crimson Text" pitchFamily="2" charset="0"/>
            </a:endParaRPr>
          </a:p>
          <a:p>
            <a:r>
              <a:rPr lang="pt-BR" sz="1600" dirty="0">
                <a:latin typeface="Crimson Text" pitchFamily="2" charset="0"/>
              </a:rPr>
              <a:t>Por volta do ano 529, São Bento fundou, no cume de uma antiga fortaleza romana no centro da península itálica, o mosteiro de Monte Cassino, local que se tornaria o ponto de irradiação de sua influência. Ali, ele compôs a célebre Regra de São Bento, uma síntese madura de tradição monástica anterior, com equilíbrio entre oração, trabalho e vida comunitária. Essa Regra forneceu um eixo de estabilidade para homens e mulheres que buscavam entregar suas vidas inteiramente a Deus, orientando mosteiros por meio de 73 capítulos de disciplina espiritual e humana.</a:t>
            </a:r>
            <a:endParaRPr lang="pt-BR" dirty="0"/>
          </a:p>
          <a:p>
            <a:endParaRPr lang="pt-BR" i="1" dirty="0"/>
          </a:p>
        </p:txBody>
      </p:sp>
      <p:sp>
        <p:nvSpPr>
          <p:cNvPr id="9" name="Espaço Reservado para Número de Slide 8">
            <a:extLst>
              <a:ext uri="{FF2B5EF4-FFF2-40B4-BE49-F238E27FC236}">
                <a16:creationId xmlns:a16="http://schemas.microsoft.com/office/drawing/2014/main" id="{4A305CEF-0906-4774-23D3-6C3172A678B1}"/>
              </a:ext>
            </a:extLst>
          </p:cNvPr>
          <p:cNvSpPr>
            <a:spLocks noGrp="1"/>
          </p:cNvSpPr>
          <p:nvPr>
            <p:ph type="sldNum" sz="quarter" idx="12"/>
          </p:nvPr>
        </p:nvSpPr>
        <p:spPr/>
        <p:txBody>
          <a:bodyPr/>
          <a:lstStyle/>
          <a:p>
            <a:fld id="{9A399360-F993-465D-8DB3-70366CB522FF}" type="slidenum">
              <a:rPr lang="pt-BR" smtClean="0"/>
              <a:t>9</a:t>
            </a:fld>
            <a:endParaRPr lang="pt-BR" dirty="0"/>
          </a:p>
        </p:txBody>
      </p:sp>
    </p:spTree>
    <p:extLst>
      <p:ext uri="{BB962C8B-B14F-4D97-AF65-F5344CB8AC3E}">
        <p14:creationId xmlns:p14="http://schemas.microsoft.com/office/powerpoint/2010/main" val="4018347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DD091-8755-4035-1C58-8B53C9A01513}"/>
            </a:ext>
          </a:extLst>
        </p:cNvPr>
        <p:cNvGrpSpPr/>
        <p:nvPr/>
      </p:nvGrpSpPr>
      <p:grpSpPr>
        <a:xfrm>
          <a:off x="0" y="0"/>
          <a:ext cx="0" cy="0"/>
          <a:chOff x="0" y="0"/>
          <a:chExt cx="0" cy="0"/>
        </a:xfrm>
      </p:grpSpPr>
      <p:sp>
        <p:nvSpPr>
          <p:cNvPr id="8" name="SubTitulo">
            <a:extLst>
              <a:ext uri="{FF2B5EF4-FFF2-40B4-BE49-F238E27FC236}">
                <a16:creationId xmlns:a16="http://schemas.microsoft.com/office/drawing/2014/main" id="{71773ACD-90FA-361D-3D23-CD80EA2622B4}"/>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Origens, Fundação e Expansão da Ordem</a:t>
            </a:r>
          </a:p>
        </p:txBody>
      </p:sp>
      <p:sp>
        <p:nvSpPr>
          <p:cNvPr id="6" name="Titulo">
            <a:extLst>
              <a:ext uri="{FF2B5EF4-FFF2-40B4-BE49-F238E27FC236}">
                <a16:creationId xmlns:a16="http://schemas.microsoft.com/office/drawing/2014/main" id="{1EBFD915-38AC-18E0-60ED-4F4C44558BC8}"/>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Santa Ordem Beneditina:</a:t>
            </a:r>
          </a:p>
        </p:txBody>
      </p:sp>
      <p:sp>
        <p:nvSpPr>
          <p:cNvPr id="2" name="Retângulo 1">
            <a:extLst>
              <a:ext uri="{FF2B5EF4-FFF2-40B4-BE49-F238E27FC236}">
                <a16:creationId xmlns:a16="http://schemas.microsoft.com/office/drawing/2014/main" id="{BB16E57C-F881-18A7-D832-78E17B20FC1C}"/>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9AB2186E-5146-E504-4F5E-B5C8131378F0}"/>
              </a:ext>
            </a:extLst>
          </p:cNvPr>
          <p:cNvSpPr txBox="1"/>
          <p:nvPr/>
        </p:nvSpPr>
        <p:spPr>
          <a:xfrm>
            <a:off x="3237748" y="1681958"/>
            <a:ext cx="312821" cy="369332"/>
          </a:xfrm>
          <a:prstGeom prst="rect">
            <a:avLst/>
          </a:prstGeom>
          <a:noFill/>
        </p:spPr>
        <p:txBody>
          <a:bodyPr wrap="square" rtlCol="0">
            <a:spAutoFit/>
          </a:bodyPr>
          <a:lstStyle/>
          <a:p>
            <a:r>
              <a:rPr lang="pt-BR" dirty="0"/>
              <a:t>✠</a:t>
            </a:r>
          </a:p>
        </p:txBody>
      </p:sp>
      <p:sp>
        <p:nvSpPr>
          <p:cNvPr id="5" name="Texto">
            <a:extLst>
              <a:ext uri="{FF2B5EF4-FFF2-40B4-BE49-F238E27FC236}">
                <a16:creationId xmlns:a16="http://schemas.microsoft.com/office/drawing/2014/main" id="{EC5FC81A-FACC-DA0B-17C6-D33ADBCA8268}"/>
              </a:ext>
            </a:extLst>
          </p:cNvPr>
          <p:cNvSpPr txBox="1"/>
          <p:nvPr/>
        </p:nvSpPr>
        <p:spPr>
          <a:xfrm>
            <a:off x="541422" y="1991735"/>
            <a:ext cx="6128084" cy="5016758"/>
          </a:xfrm>
          <a:prstGeom prst="rect">
            <a:avLst/>
          </a:prstGeom>
          <a:noFill/>
        </p:spPr>
        <p:txBody>
          <a:bodyPr wrap="square" rtlCol="0">
            <a:spAutoFit/>
          </a:bodyPr>
          <a:lstStyle/>
          <a:p>
            <a:r>
              <a:rPr lang="pt-BR" sz="1600" dirty="0">
                <a:latin typeface="Crimson Text" pitchFamily="2" charset="0"/>
              </a:rPr>
              <a:t>A partir de Monte Cassino, a ordem começou a se expandir para outras regiões da Itália e, posteriormente, para a Gália, Hispânia, Germânia e Ilhas Britânicas. </a:t>
            </a:r>
          </a:p>
          <a:p>
            <a:endParaRPr lang="pt-BR" sz="1600" dirty="0">
              <a:latin typeface="Crimson Text" pitchFamily="2" charset="0"/>
            </a:endParaRPr>
          </a:p>
          <a:p>
            <a:r>
              <a:rPr lang="pt-BR" sz="1600" dirty="0">
                <a:latin typeface="Crimson Text" pitchFamily="2" charset="0"/>
              </a:rPr>
              <a:t>Entre os séculos VII e X, os mosteiros beneditinos tornaram-se centros de:</a:t>
            </a:r>
          </a:p>
          <a:p>
            <a:pPr marL="285750" indent="-285750">
              <a:buFont typeface="Crimson Text" pitchFamily="2" charset="0"/>
              <a:buChar char="†"/>
            </a:pPr>
            <a:r>
              <a:rPr lang="pt-BR" sz="1600" dirty="0">
                <a:latin typeface="Crimson Text" pitchFamily="2" charset="0"/>
              </a:rPr>
              <a:t> Preservação e cópia de manuscritos</a:t>
            </a:r>
          </a:p>
          <a:p>
            <a:pPr marL="285750" indent="-285750">
              <a:buFont typeface="Crimson Text" pitchFamily="2" charset="0"/>
              <a:buChar char="†"/>
            </a:pPr>
            <a:r>
              <a:rPr lang="pt-BR" sz="1600" dirty="0">
                <a:latin typeface="Crimson Text" pitchFamily="2" charset="0"/>
              </a:rPr>
              <a:t> Formação intelectual e teológica</a:t>
            </a:r>
          </a:p>
          <a:p>
            <a:pPr marL="285750" indent="-285750">
              <a:buFont typeface="Crimson Text" pitchFamily="2" charset="0"/>
              <a:buChar char="†"/>
            </a:pPr>
            <a:r>
              <a:rPr lang="pt-BR" sz="1600" dirty="0">
                <a:latin typeface="Crimson Text" pitchFamily="2" charset="0"/>
              </a:rPr>
              <a:t> Desenvolvimento agrícola</a:t>
            </a:r>
          </a:p>
          <a:p>
            <a:pPr marL="285750" indent="-285750">
              <a:buFont typeface="Crimson Text" pitchFamily="2" charset="0"/>
              <a:buChar char="†"/>
            </a:pPr>
            <a:r>
              <a:rPr lang="pt-BR" sz="1600" dirty="0">
                <a:latin typeface="Crimson Text" pitchFamily="2" charset="0"/>
              </a:rPr>
              <a:t> Estruturação social e hospitalidade</a:t>
            </a:r>
          </a:p>
          <a:p>
            <a:pPr marL="285750" indent="-285750">
              <a:buFont typeface="Crimson Text" pitchFamily="2" charset="0"/>
              <a:buChar char="†"/>
            </a:pPr>
            <a:r>
              <a:rPr lang="pt-BR" sz="1600" dirty="0">
                <a:latin typeface="Crimson Text" pitchFamily="2" charset="0"/>
              </a:rPr>
              <a:t> Vida litúrgica profunda e regular.</a:t>
            </a:r>
          </a:p>
          <a:p>
            <a:pPr marL="285750" indent="-285750">
              <a:buFont typeface="Crimson Text" pitchFamily="2" charset="0"/>
              <a:buChar char="†"/>
            </a:pPr>
            <a:endParaRPr lang="pt-BR" sz="1600" dirty="0">
              <a:latin typeface="Crimson Text" pitchFamily="2" charset="0"/>
            </a:endParaRPr>
          </a:p>
          <a:p>
            <a:r>
              <a:rPr lang="pt-BR" sz="1600" dirty="0">
                <a:latin typeface="Crimson Text" pitchFamily="2" charset="0"/>
              </a:rPr>
              <a:t>Em uma época na qual a cultura escrita corria risco de desaparecer, os beneditinos salvaram grande parte da herança literária do mundo antigo. Nos </a:t>
            </a:r>
            <a:r>
              <a:rPr lang="pt-BR" sz="1600" dirty="0" err="1">
                <a:latin typeface="Crimson Text" pitchFamily="2" charset="0"/>
              </a:rPr>
              <a:t>scriptoria</a:t>
            </a:r>
            <a:r>
              <a:rPr lang="pt-BR" sz="1600" dirty="0">
                <a:latin typeface="Crimson Text" pitchFamily="2" charset="0"/>
              </a:rPr>
              <a:t>, monges copiavam incansavelmente obras bíblicas, litúrgicas, filosóficas, jurídicas e científicas. </a:t>
            </a:r>
          </a:p>
          <a:p>
            <a:endParaRPr lang="pt-BR" sz="1600" dirty="0">
              <a:latin typeface="Crimson Text" pitchFamily="2" charset="0"/>
            </a:endParaRPr>
          </a:p>
          <a:p>
            <a:r>
              <a:rPr lang="pt-BR" sz="1600" dirty="0">
                <a:latin typeface="Crimson Text" pitchFamily="2" charset="0"/>
              </a:rPr>
              <a:t>Por isso, estudiosos consideram que, sem os mosteiros beneditinos, a transmissão da cultura clássica para a Idade Média e, posteriormente, para o Renascimento, teria sido severamente diminuída.</a:t>
            </a:r>
          </a:p>
          <a:p>
            <a:endParaRPr lang="pt-BR" sz="1600" dirty="0">
              <a:latin typeface="Crimson Text" pitchFamily="2" charset="0"/>
            </a:endParaRPr>
          </a:p>
        </p:txBody>
      </p:sp>
      <p:sp>
        <p:nvSpPr>
          <p:cNvPr id="9" name="Espaço Reservado para Número de Slide 8">
            <a:extLst>
              <a:ext uri="{FF2B5EF4-FFF2-40B4-BE49-F238E27FC236}">
                <a16:creationId xmlns:a16="http://schemas.microsoft.com/office/drawing/2014/main" id="{1AF9B2F4-B8F6-EBFA-6CF6-0E30C9167FF8}"/>
              </a:ext>
            </a:extLst>
          </p:cNvPr>
          <p:cNvSpPr>
            <a:spLocks noGrp="1"/>
          </p:cNvSpPr>
          <p:nvPr>
            <p:ph type="sldNum" sz="quarter" idx="12"/>
          </p:nvPr>
        </p:nvSpPr>
        <p:spPr/>
        <p:txBody>
          <a:bodyPr/>
          <a:lstStyle/>
          <a:p>
            <a:fld id="{9A399360-F993-465D-8DB3-70366CB522FF}" type="slidenum">
              <a:rPr lang="pt-BR" smtClean="0"/>
              <a:t>10</a:t>
            </a:fld>
            <a:endParaRPr lang="pt-BR" dirty="0"/>
          </a:p>
        </p:txBody>
      </p:sp>
    </p:spTree>
    <p:extLst>
      <p:ext uri="{BB962C8B-B14F-4D97-AF65-F5344CB8AC3E}">
        <p14:creationId xmlns:p14="http://schemas.microsoft.com/office/powerpoint/2010/main" val="1016170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53155-EEA3-6685-1E09-9F1AD1BCB98B}"/>
            </a:ext>
          </a:extLst>
        </p:cNvPr>
        <p:cNvGrpSpPr/>
        <p:nvPr/>
      </p:nvGrpSpPr>
      <p:grpSpPr>
        <a:xfrm>
          <a:off x="0" y="0"/>
          <a:ext cx="0" cy="0"/>
          <a:chOff x="0" y="0"/>
          <a:chExt cx="0" cy="0"/>
        </a:xfrm>
      </p:grpSpPr>
      <p:sp>
        <p:nvSpPr>
          <p:cNvPr id="8" name="SubTitulo">
            <a:extLst>
              <a:ext uri="{FF2B5EF4-FFF2-40B4-BE49-F238E27FC236}">
                <a16:creationId xmlns:a16="http://schemas.microsoft.com/office/drawing/2014/main" id="{56B20AA6-4D28-B905-B21F-3D42EB547044}"/>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Origens, Fundação e Expansão da Ordem</a:t>
            </a:r>
          </a:p>
        </p:txBody>
      </p:sp>
      <p:sp>
        <p:nvSpPr>
          <p:cNvPr id="6" name="Titulo">
            <a:extLst>
              <a:ext uri="{FF2B5EF4-FFF2-40B4-BE49-F238E27FC236}">
                <a16:creationId xmlns:a16="http://schemas.microsoft.com/office/drawing/2014/main" id="{8AE35E95-8358-D1B8-129E-1F1ED813BF67}"/>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Santa Ordem Beneditina:</a:t>
            </a:r>
          </a:p>
        </p:txBody>
      </p:sp>
      <p:sp>
        <p:nvSpPr>
          <p:cNvPr id="2" name="Retângulo 1">
            <a:extLst>
              <a:ext uri="{FF2B5EF4-FFF2-40B4-BE49-F238E27FC236}">
                <a16:creationId xmlns:a16="http://schemas.microsoft.com/office/drawing/2014/main" id="{63347B50-E0EB-3450-A620-84CB98A79E99}"/>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AA66CBD2-A1D7-E7C1-4F2D-6F71B9016837}"/>
              </a:ext>
            </a:extLst>
          </p:cNvPr>
          <p:cNvSpPr txBox="1"/>
          <p:nvPr/>
        </p:nvSpPr>
        <p:spPr>
          <a:xfrm>
            <a:off x="3237748" y="1681958"/>
            <a:ext cx="312821" cy="369332"/>
          </a:xfrm>
          <a:prstGeom prst="rect">
            <a:avLst/>
          </a:prstGeom>
          <a:noFill/>
        </p:spPr>
        <p:txBody>
          <a:bodyPr wrap="square" rtlCol="0">
            <a:spAutoFit/>
          </a:bodyPr>
          <a:lstStyle/>
          <a:p>
            <a:r>
              <a:rPr lang="pt-BR" dirty="0"/>
              <a:t>✠</a:t>
            </a:r>
          </a:p>
        </p:txBody>
      </p:sp>
      <p:sp>
        <p:nvSpPr>
          <p:cNvPr id="5" name="Texto">
            <a:extLst>
              <a:ext uri="{FF2B5EF4-FFF2-40B4-BE49-F238E27FC236}">
                <a16:creationId xmlns:a16="http://schemas.microsoft.com/office/drawing/2014/main" id="{EB0FF3CD-216B-8700-1AC5-AB87380DC97C}"/>
              </a:ext>
            </a:extLst>
          </p:cNvPr>
          <p:cNvSpPr txBox="1"/>
          <p:nvPr/>
        </p:nvSpPr>
        <p:spPr>
          <a:xfrm>
            <a:off x="541422" y="1991735"/>
            <a:ext cx="6128084" cy="3046988"/>
          </a:xfrm>
          <a:prstGeom prst="rect">
            <a:avLst/>
          </a:prstGeom>
          <a:noFill/>
        </p:spPr>
        <p:txBody>
          <a:bodyPr wrap="square" rtlCol="0">
            <a:spAutoFit/>
          </a:bodyPr>
          <a:lstStyle/>
          <a:p>
            <a:r>
              <a:rPr lang="pt-BR" sz="1600" dirty="0">
                <a:latin typeface="Crimson Text" pitchFamily="2" charset="0"/>
              </a:rPr>
              <a:t>Com o passar do tempo, diversos movimentos de renovação monástica originaram-se da tradição beneditina:</a:t>
            </a:r>
          </a:p>
          <a:p>
            <a:endParaRPr lang="pt-BR" sz="1600" dirty="0">
              <a:latin typeface="Crimson Text" pitchFamily="2" charset="0"/>
            </a:endParaRPr>
          </a:p>
          <a:p>
            <a:pPr marL="285750" indent="-285750">
              <a:buFont typeface="Crimson Text" pitchFamily="2" charset="0"/>
              <a:buChar char="†"/>
            </a:pPr>
            <a:r>
              <a:rPr lang="pt-BR" sz="1600" dirty="0">
                <a:latin typeface="Crimson Text" pitchFamily="2" charset="0"/>
              </a:rPr>
              <a:t> </a:t>
            </a:r>
            <a:r>
              <a:rPr lang="pt-BR" sz="1600" dirty="0" err="1">
                <a:latin typeface="Crimson Text" pitchFamily="2" charset="0"/>
              </a:rPr>
              <a:t>Cluny</a:t>
            </a:r>
            <a:r>
              <a:rPr lang="pt-BR" sz="1600" dirty="0">
                <a:latin typeface="Crimson Text" pitchFamily="2" charset="0"/>
              </a:rPr>
              <a:t> (séc. X): aprofundou a liturgia e a influência cultural.</a:t>
            </a:r>
          </a:p>
          <a:p>
            <a:pPr marL="285750" indent="-285750">
              <a:buFont typeface="Crimson Text" pitchFamily="2" charset="0"/>
              <a:buChar char="†"/>
            </a:pPr>
            <a:r>
              <a:rPr lang="pt-BR" sz="1600" dirty="0">
                <a:latin typeface="Crimson Text" pitchFamily="2" charset="0"/>
              </a:rPr>
              <a:t> </a:t>
            </a:r>
            <a:r>
              <a:rPr lang="pt-BR" sz="1600" dirty="0" err="1">
                <a:latin typeface="Crimson Text" pitchFamily="2" charset="0"/>
              </a:rPr>
              <a:t>Cister</a:t>
            </a:r>
            <a:r>
              <a:rPr lang="pt-BR" sz="1600" dirty="0">
                <a:latin typeface="Crimson Text" pitchFamily="2" charset="0"/>
              </a:rPr>
              <a:t> (séc. XII): buscou maior simplicidade e austeridade.</a:t>
            </a:r>
          </a:p>
          <a:p>
            <a:pPr marL="285750" indent="-285750">
              <a:buFont typeface="Crimson Text" pitchFamily="2" charset="0"/>
              <a:buChar char="†"/>
            </a:pPr>
            <a:r>
              <a:rPr lang="pt-BR" sz="1600" dirty="0">
                <a:latin typeface="Crimson Text" pitchFamily="2" charset="0"/>
              </a:rPr>
              <a:t> </a:t>
            </a:r>
            <a:r>
              <a:rPr lang="pt-BR" sz="1600" dirty="0" err="1">
                <a:latin typeface="Crimson Text" pitchFamily="2" charset="0"/>
              </a:rPr>
              <a:t>Camáldula</a:t>
            </a:r>
            <a:r>
              <a:rPr lang="pt-BR" sz="1600" dirty="0">
                <a:latin typeface="Crimson Text" pitchFamily="2" charset="0"/>
              </a:rPr>
              <a:t> e </a:t>
            </a:r>
            <a:r>
              <a:rPr lang="pt-BR" sz="1600" dirty="0" err="1">
                <a:latin typeface="Crimson Text" pitchFamily="2" charset="0"/>
              </a:rPr>
              <a:t>Valombrosa</a:t>
            </a:r>
            <a:r>
              <a:rPr lang="pt-BR" sz="1600" dirty="0">
                <a:latin typeface="Crimson Text" pitchFamily="2" charset="0"/>
              </a:rPr>
              <a:t>: uniram vida eremítica e </a:t>
            </a:r>
            <a:r>
              <a:rPr lang="pt-BR" sz="1600" dirty="0" err="1">
                <a:latin typeface="Crimson Text" pitchFamily="2" charset="0"/>
              </a:rPr>
              <a:t>cenobítica</a:t>
            </a:r>
            <a:r>
              <a:rPr lang="pt-BR" sz="1600" dirty="0">
                <a:latin typeface="Crimson Text" pitchFamily="2" charset="0"/>
              </a:rPr>
              <a:t>.</a:t>
            </a:r>
          </a:p>
          <a:p>
            <a:pPr marL="285750" indent="-285750">
              <a:buFont typeface="Crimson Text" pitchFamily="2" charset="0"/>
              <a:buChar char="†"/>
            </a:pPr>
            <a:r>
              <a:rPr lang="pt-BR" sz="1600" dirty="0">
                <a:latin typeface="Crimson Text" pitchFamily="2" charset="0"/>
              </a:rPr>
              <a:t> </a:t>
            </a:r>
            <a:r>
              <a:rPr lang="pt-BR" sz="1600" dirty="0" err="1">
                <a:latin typeface="Crimson Text" pitchFamily="2" charset="0"/>
              </a:rPr>
              <a:t>Oliveirenses</a:t>
            </a:r>
            <a:r>
              <a:rPr lang="pt-BR" sz="1600" dirty="0">
                <a:latin typeface="Crimson Text" pitchFamily="2" charset="0"/>
              </a:rPr>
              <a:t>, </a:t>
            </a:r>
            <a:r>
              <a:rPr lang="pt-BR" sz="1600" dirty="0" err="1">
                <a:latin typeface="Crimson Text" pitchFamily="2" charset="0"/>
              </a:rPr>
              <a:t>Silvestrinos</a:t>
            </a:r>
            <a:r>
              <a:rPr lang="pt-BR" sz="1600" dirty="0">
                <a:latin typeface="Crimson Text" pitchFamily="2" charset="0"/>
              </a:rPr>
              <a:t>, </a:t>
            </a:r>
            <a:r>
              <a:rPr lang="pt-BR" sz="1600" dirty="0" err="1">
                <a:latin typeface="Crimson Text" pitchFamily="2" charset="0"/>
              </a:rPr>
              <a:t>Olivetanos</a:t>
            </a:r>
            <a:r>
              <a:rPr lang="pt-BR" sz="1600" dirty="0">
                <a:latin typeface="Crimson Text" pitchFamily="2" charset="0"/>
              </a:rPr>
              <a:t> e outros ramos posteriores.</a:t>
            </a:r>
          </a:p>
          <a:p>
            <a:pPr marL="285750" indent="-285750">
              <a:buFont typeface="Crimson Text" pitchFamily="2" charset="0"/>
              <a:buChar char="†"/>
            </a:pPr>
            <a:endParaRPr lang="pt-BR" sz="1600" dirty="0">
              <a:latin typeface="Crimson Text" pitchFamily="2" charset="0"/>
            </a:endParaRPr>
          </a:p>
          <a:p>
            <a:r>
              <a:rPr lang="pt-BR" sz="1600" dirty="0">
                <a:latin typeface="Crimson Text" pitchFamily="2" charset="0"/>
              </a:rPr>
              <a:t>Ainda hoje, a Ordem Beneditina permanece presente em todos os continentes. Mosteiros, abadias e priorados continuam sendo lugares de silêncio, hospitalidade, liturgia solene e busca da sabedoria cristã, seguindo a máxima clássica:</a:t>
            </a:r>
          </a:p>
        </p:txBody>
      </p:sp>
      <p:sp>
        <p:nvSpPr>
          <p:cNvPr id="9" name="Espaço Reservado para Número de Slide 8">
            <a:extLst>
              <a:ext uri="{FF2B5EF4-FFF2-40B4-BE49-F238E27FC236}">
                <a16:creationId xmlns:a16="http://schemas.microsoft.com/office/drawing/2014/main" id="{26EB481E-D7B7-BFA5-34AB-AACD99AE1C42}"/>
              </a:ext>
            </a:extLst>
          </p:cNvPr>
          <p:cNvSpPr>
            <a:spLocks noGrp="1"/>
          </p:cNvSpPr>
          <p:nvPr>
            <p:ph type="sldNum" sz="quarter" idx="12"/>
          </p:nvPr>
        </p:nvSpPr>
        <p:spPr/>
        <p:txBody>
          <a:bodyPr/>
          <a:lstStyle/>
          <a:p>
            <a:fld id="{9A399360-F993-465D-8DB3-70366CB522FF}" type="slidenum">
              <a:rPr lang="pt-BR" smtClean="0"/>
              <a:t>11</a:t>
            </a:fld>
            <a:endParaRPr lang="pt-BR" dirty="0"/>
          </a:p>
        </p:txBody>
      </p:sp>
      <p:sp>
        <p:nvSpPr>
          <p:cNvPr id="4" name="CaixaDeTexto 3">
            <a:extLst>
              <a:ext uri="{FF2B5EF4-FFF2-40B4-BE49-F238E27FC236}">
                <a16:creationId xmlns:a16="http://schemas.microsoft.com/office/drawing/2014/main" id="{CD4DD019-3D76-EE19-4A65-C9D16AF25E24}"/>
              </a:ext>
            </a:extLst>
          </p:cNvPr>
          <p:cNvSpPr txBox="1"/>
          <p:nvPr/>
        </p:nvSpPr>
        <p:spPr>
          <a:xfrm>
            <a:off x="1565195" y="4965979"/>
            <a:ext cx="3719288" cy="923330"/>
          </a:xfrm>
          <a:prstGeom prst="rect">
            <a:avLst/>
          </a:prstGeom>
          <a:noFill/>
        </p:spPr>
        <p:txBody>
          <a:bodyPr wrap="none" rtlCol="0">
            <a:spAutoFit/>
          </a:bodyPr>
          <a:lstStyle/>
          <a:p>
            <a:r>
              <a:rPr lang="pt-BR" b="1" dirty="0">
                <a:latin typeface="Crimson Text" pitchFamily="2" charset="0"/>
              </a:rPr>
              <a:t>"Ut in </a:t>
            </a:r>
            <a:r>
              <a:rPr lang="pt-BR" b="1" dirty="0" err="1">
                <a:latin typeface="Crimson Text" pitchFamily="2" charset="0"/>
              </a:rPr>
              <a:t>omnibus</a:t>
            </a:r>
            <a:r>
              <a:rPr lang="pt-BR" b="1" dirty="0">
                <a:latin typeface="Crimson Text" pitchFamily="2" charset="0"/>
              </a:rPr>
              <a:t> </a:t>
            </a:r>
            <a:r>
              <a:rPr lang="pt-BR" b="1" dirty="0" err="1">
                <a:latin typeface="Crimson Text" pitchFamily="2" charset="0"/>
              </a:rPr>
              <a:t>glorificetur</a:t>
            </a:r>
            <a:r>
              <a:rPr lang="pt-BR" b="1" dirty="0">
                <a:latin typeface="Crimson Text" pitchFamily="2" charset="0"/>
              </a:rPr>
              <a:t> Deus“</a:t>
            </a:r>
          </a:p>
          <a:p>
            <a:r>
              <a:rPr lang="pt-BR" i="1" dirty="0">
                <a:latin typeface="Crimson Text" pitchFamily="2" charset="0"/>
              </a:rPr>
              <a:t>Para que em tudo Deus seja glorificado.</a:t>
            </a:r>
          </a:p>
          <a:p>
            <a:r>
              <a:rPr lang="pt-BR" dirty="0">
                <a:latin typeface="Crimson Text" pitchFamily="2" charset="0"/>
              </a:rPr>
              <a:t>-Regra de São Bento, cap. LVII</a:t>
            </a:r>
          </a:p>
        </p:txBody>
      </p:sp>
    </p:spTree>
    <p:extLst>
      <p:ext uri="{BB962C8B-B14F-4D97-AF65-F5344CB8AC3E}">
        <p14:creationId xmlns:p14="http://schemas.microsoft.com/office/powerpoint/2010/main" val="2443798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90228-13DD-0773-D51A-AB985F82A9A7}"/>
            </a:ext>
          </a:extLst>
        </p:cNvPr>
        <p:cNvGrpSpPr/>
        <p:nvPr/>
      </p:nvGrpSpPr>
      <p:grpSpPr>
        <a:xfrm>
          <a:off x="0" y="0"/>
          <a:ext cx="0" cy="0"/>
          <a:chOff x="0" y="0"/>
          <a:chExt cx="0" cy="0"/>
        </a:xfrm>
      </p:grpSpPr>
      <p:sp>
        <p:nvSpPr>
          <p:cNvPr id="8" name="SubTitulo">
            <a:extLst>
              <a:ext uri="{FF2B5EF4-FFF2-40B4-BE49-F238E27FC236}">
                <a16:creationId xmlns:a16="http://schemas.microsoft.com/office/drawing/2014/main" id="{259F590E-E1C8-DD27-1D23-F908CEB9BDFB}"/>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Origens, Fundação e Expansão da Ordem</a:t>
            </a:r>
          </a:p>
        </p:txBody>
      </p:sp>
      <p:sp>
        <p:nvSpPr>
          <p:cNvPr id="6" name="Titulo">
            <a:extLst>
              <a:ext uri="{FF2B5EF4-FFF2-40B4-BE49-F238E27FC236}">
                <a16:creationId xmlns:a16="http://schemas.microsoft.com/office/drawing/2014/main" id="{1CECBF0F-6E76-112F-FE45-9A355DBE2ADE}"/>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Santa Ordem Beneditina:</a:t>
            </a:r>
          </a:p>
        </p:txBody>
      </p:sp>
      <p:sp>
        <p:nvSpPr>
          <p:cNvPr id="2" name="Retângulo 1">
            <a:extLst>
              <a:ext uri="{FF2B5EF4-FFF2-40B4-BE49-F238E27FC236}">
                <a16:creationId xmlns:a16="http://schemas.microsoft.com/office/drawing/2014/main" id="{E6F0EF92-22D5-82A6-B6BB-AFA8534A4F90}"/>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3BC8AD0A-9170-E9A7-1389-609E55BED119}"/>
              </a:ext>
            </a:extLst>
          </p:cNvPr>
          <p:cNvSpPr txBox="1"/>
          <p:nvPr/>
        </p:nvSpPr>
        <p:spPr>
          <a:xfrm>
            <a:off x="3237748" y="1681958"/>
            <a:ext cx="312821" cy="369332"/>
          </a:xfrm>
          <a:prstGeom prst="rect">
            <a:avLst/>
          </a:prstGeom>
          <a:noFill/>
        </p:spPr>
        <p:txBody>
          <a:bodyPr wrap="square" rtlCol="0">
            <a:spAutoFit/>
          </a:bodyPr>
          <a:lstStyle/>
          <a:p>
            <a:r>
              <a:rPr lang="pt-BR" dirty="0"/>
              <a:t>✠</a:t>
            </a:r>
          </a:p>
        </p:txBody>
      </p:sp>
      <p:sp>
        <p:nvSpPr>
          <p:cNvPr id="5" name="Texto">
            <a:extLst>
              <a:ext uri="{FF2B5EF4-FFF2-40B4-BE49-F238E27FC236}">
                <a16:creationId xmlns:a16="http://schemas.microsoft.com/office/drawing/2014/main" id="{248A9313-8595-7537-CD84-EC01024FA0E8}"/>
              </a:ext>
            </a:extLst>
          </p:cNvPr>
          <p:cNvSpPr txBox="1"/>
          <p:nvPr/>
        </p:nvSpPr>
        <p:spPr>
          <a:xfrm>
            <a:off x="541422" y="4359597"/>
            <a:ext cx="6128084" cy="1323439"/>
          </a:xfrm>
          <a:prstGeom prst="rect">
            <a:avLst/>
          </a:prstGeom>
          <a:noFill/>
        </p:spPr>
        <p:txBody>
          <a:bodyPr wrap="square" rtlCol="0">
            <a:spAutoFit/>
          </a:bodyPr>
          <a:lstStyle/>
          <a:p>
            <a:r>
              <a:rPr lang="pt-BR" sz="1600" dirty="0">
                <a:latin typeface="Crimson Text" pitchFamily="2" charset="0"/>
              </a:rPr>
              <a:t>Das colinas silenciosas de Monte Cassino ergueu-se uma tradição que moldou reinos, preservou bibliotecas e ensinou gerações a buscar Deus na simplicidade dos dias. Agora que conhecemos o berço histórico da Ordem Beneditina, é tempo de penetrar em seu coração espiritual, onde a Regra e os votos se tornam caminho de santidade.</a:t>
            </a:r>
          </a:p>
        </p:txBody>
      </p:sp>
      <p:sp>
        <p:nvSpPr>
          <p:cNvPr id="9" name="Espaço Reservado para Número de Slide 8">
            <a:extLst>
              <a:ext uri="{FF2B5EF4-FFF2-40B4-BE49-F238E27FC236}">
                <a16:creationId xmlns:a16="http://schemas.microsoft.com/office/drawing/2014/main" id="{7A582716-F8B4-44BD-C02A-DE48CD72833C}"/>
              </a:ext>
            </a:extLst>
          </p:cNvPr>
          <p:cNvSpPr>
            <a:spLocks noGrp="1"/>
          </p:cNvSpPr>
          <p:nvPr>
            <p:ph type="sldNum" sz="quarter" idx="12"/>
          </p:nvPr>
        </p:nvSpPr>
        <p:spPr/>
        <p:txBody>
          <a:bodyPr/>
          <a:lstStyle/>
          <a:p>
            <a:fld id="{9A399360-F993-465D-8DB3-70366CB522FF}" type="slidenum">
              <a:rPr lang="pt-BR" smtClean="0"/>
              <a:t>12</a:t>
            </a:fld>
            <a:endParaRPr lang="pt-BR" dirty="0"/>
          </a:p>
        </p:txBody>
      </p:sp>
      <p:graphicFrame>
        <p:nvGraphicFramePr>
          <p:cNvPr id="7" name="Diagrama 6">
            <a:extLst>
              <a:ext uri="{FF2B5EF4-FFF2-40B4-BE49-F238E27FC236}">
                <a16:creationId xmlns:a16="http://schemas.microsoft.com/office/drawing/2014/main" id="{CB5D0B94-A70E-CAEC-0C56-12794AAD6F75}"/>
              </a:ext>
            </a:extLst>
          </p:cNvPr>
          <p:cNvGraphicFramePr/>
          <p:nvPr>
            <p:extLst>
              <p:ext uri="{D42A27DB-BD31-4B8C-83A1-F6EECF244321}">
                <p14:modId xmlns:p14="http://schemas.microsoft.com/office/powerpoint/2010/main" val="2454000083"/>
              </p:ext>
            </p:extLst>
          </p:nvPr>
        </p:nvGraphicFramePr>
        <p:xfrm>
          <a:off x="364958" y="1347693"/>
          <a:ext cx="6128084" cy="3442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4194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DCF61-0393-F8A9-0646-98DD81CFBA2F}"/>
            </a:ext>
          </a:extLst>
        </p:cNvPr>
        <p:cNvGrpSpPr/>
        <p:nvPr/>
      </p:nvGrpSpPr>
      <p:grpSpPr>
        <a:xfrm>
          <a:off x="0" y="0"/>
          <a:ext cx="0" cy="0"/>
          <a:chOff x="0" y="0"/>
          <a:chExt cx="0" cy="0"/>
        </a:xfrm>
      </p:grpSpPr>
      <p:sp>
        <p:nvSpPr>
          <p:cNvPr id="8" name="SubTitulo">
            <a:extLst>
              <a:ext uri="{FF2B5EF4-FFF2-40B4-BE49-F238E27FC236}">
                <a16:creationId xmlns:a16="http://schemas.microsoft.com/office/drawing/2014/main" id="{085213DC-ED83-10DD-771A-BB7B47071F48}"/>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A Vida Interna do Mosteiro</a:t>
            </a:r>
          </a:p>
        </p:txBody>
      </p:sp>
      <p:sp>
        <p:nvSpPr>
          <p:cNvPr id="6" name="Titulo">
            <a:extLst>
              <a:ext uri="{FF2B5EF4-FFF2-40B4-BE49-F238E27FC236}">
                <a16:creationId xmlns:a16="http://schemas.microsoft.com/office/drawing/2014/main" id="{C879056A-73AA-21BA-8A5C-8CE82A4B9624}"/>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Santa Ordem Beneditina:</a:t>
            </a:r>
          </a:p>
        </p:txBody>
      </p:sp>
      <p:sp>
        <p:nvSpPr>
          <p:cNvPr id="2" name="Retângulo 1">
            <a:extLst>
              <a:ext uri="{FF2B5EF4-FFF2-40B4-BE49-F238E27FC236}">
                <a16:creationId xmlns:a16="http://schemas.microsoft.com/office/drawing/2014/main" id="{CC0A782B-46C1-C8D8-1542-62C4478271B0}"/>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C32A6DED-05A2-C090-9AFD-A280D7F84E26}"/>
              </a:ext>
            </a:extLst>
          </p:cNvPr>
          <p:cNvSpPr txBox="1"/>
          <p:nvPr/>
        </p:nvSpPr>
        <p:spPr>
          <a:xfrm>
            <a:off x="3237748" y="1681958"/>
            <a:ext cx="312821" cy="369332"/>
          </a:xfrm>
          <a:prstGeom prst="rect">
            <a:avLst/>
          </a:prstGeom>
          <a:noFill/>
        </p:spPr>
        <p:txBody>
          <a:bodyPr wrap="square" rtlCol="0">
            <a:spAutoFit/>
          </a:bodyPr>
          <a:lstStyle/>
          <a:p>
            <a:r>
              <a:rPr lang="pt-BR" dirty="0"/>
              <a:t>✠</a:t>
            </a:r>
          </a:p>
        </p:txBody>
      </p:sp>
      <p:sp>
        <p:nvSpPr>
          <p:cNvPr id="5" name="Texto">
            <a:extLst>
              <a:ext uri="{FF2B5EF4-FFF2-40B4-BE49-F238E27FC236}">
                <a16:creationId xmlns:a16="http://schemas.microsoft.com/office/drawing/2014/main" id="{ADB94BE3-F9B1-660A-6649-0D5E266F8E9D}"/>
              </a:ext>
            </a:extLst>
          </p:cNvPr>
          <p:cNvSpPr txBox="1"/>
          <p:nvPr/>
        </p:nvSpPr>
        <p:spPr>
          <a:xfrm>
            <a:off x="541422" y="1991735"/>
            <a:ext cx="6128084" cy="1323439"/>
          </a:xfrm>
          <a:prstGeom prst="rect">
            <a:avLst/>
          </a:prstGeom>
          <a:noFill/>
        </p:spPr>
        <p:txBody>
          <a:bodyPr wrap="square" rtlCol="0">
            <a:spAutoFit/>
          </a:bodyPr>
          <a:lstStyle/>
          <a:p>
            <a:r>
              <a:rPr lang="pt-BR" sz="1600" dirty="0">
                <a:latin typeface="Crimson Text" pitchFamily="2" charset="0"/>
              </a:rPr>
              <a:t>A vida beneditina se estrutura sobre uma convicção fundamental: Deus está verdadeiramente presente e pode ser encontrado no tecido simples da vida cotidiana. O mosteiro, portanto, não é um retiro para almas cansadas do mundo, mas uma escola de serviço do Senhor, conforme anuncia o prólogo da Regra escrita por São Bento.</a:t>
            </a:r>
          </a:p>
        </p:txBody>
      </p:sp>
      <p:sp>
        <p:nvSpPr>
          <p:cNvPr id="9" name="Espaço Reservado para Número de Slide 8">
            <a:extLst>
              <a:ext uri="{FF2B5EF4-FFF2-40B4-BE49-F238E27FC236}">
                <a16:creationId xmlns:a16="http://schemas.microsoft.com/office/drawing/2014/main" id="{309EACF3-731C-C6A0-77AD-8EC718AA3E44}"/>
              </a:ext>
            </a:extLst>
          </p:cNvPr>
          <p:cNvSpPr>
            <a:spLocks noGrp="1"/>
          </p:cNvSpPr>
          <p:nvPr>
            <p:ph type="sldNum" sz="quarter" idx="12"/>
          </p:nvPr>
        </p:nvSpPr>
        <p:spPr/>
        <p:txBody>
          <a:bodyPr/>
          <a:lstStyle/>
          <a:p>
            <a:fld id="{9A399360-F993-465D-8DB3-70366CB522FF}" type="slidenum">
              <a:rPr lang="pt-BR" smtClean="0"/>
              <a:t>13</a:t>
            </a:fld>
            <a:endParaRPr lang="pt-BR" dirty="0"/>
          </a:p>
        </p:txBody>
      </p:sp>
      <p:sp>
        <p:nvSpPr>
          <p:cNvPr id="4" name="CaixaDeTexto 3">
            <a:extLst>
              <a:ext uri="{FF2B5EF4-FFF2-40B4-BE49-F238E27FC236}">
                <a16:creationId xmlns:a16="http://schemas.microsoft.com/office/drawing/2014/main" id="{CB2D2B63-B052-5E57-208D-F4854189A7FF}"/>
              </a:ext>
            </a:extLst>
          </p:cNvPr>
          <p:cNvSpPr txBox="1"/>
          <p:nvPr/>
        </p:nvSpPr>
        <p:spPr>
          <a:xfrm>
            <a:off x="1565195" y="3290935"/>
            <a:ext cx="3669594" cy="923330"/>
          </a:xfrm>
          <a:prstGeom prst="rect">
            <a:avLst/>
          </a:prstGeom>
          <a:noFill/>
        </p:spPr>
        <p:txBody>
          <a:bodyPr wrap="none" rtlCol="0">
            <a:spAutoFit/>
          </a:bodyPr>
          <a:lstStyle/>
          <a:p>
            <a:r>
              <a:rPr lang="pt-BR" b="1" dirty="0">
                <a:latin typeface="Crimson Text" pitchFamily="2" charset="0"/>
              </a:rPr>
              <a:t>"Escuta, ó filho, os preceitos do Mestre </a:t>
            </a:r>
          </a:p>
          <a:p>
            <a:r>
              <a:rPr lang="pt-BR" b="1" dirty="0">
                <a:latin typeface="Crimson Text" pitchFamily="2" charset="0"/>
              </a:rPr>
              <a:t>e inclina o ouvido do teu coração. “</a:t>
            </a:r>
          </a:p>
          <a:p>
            <a:r>
              <a:rPr lang="pt-BR" dirty="0">
                <a:latin typeface="Crimson Text" pitchFamily="2" charset="0"/>
              </a:rPr>
              <a:t>-Regra de São Bento, Prólogo</a:t>
            </a:r>
          </a:p>
        </p:txBody>
      </p:sp>
      <p:sp>
        <p:nvSpPr>
          <p:cNvPr id="7" name="Texto">
            <a:extLst>
              <a:ext uri="{FF2B5EF4-FFF2-40B4-BE49-F238E27FC236}">
                <a16:creationId xmlns:a16="http://schemas.microsoft.com/office/drawing/2014/main" id="{D1D9CEF5-DF23-67C4-DB9D-CDFC6D5AF773}"/>
              </a:ext>
            </a:extLst>
          </p:cNvPr>
          <p:cNvSpPr txBox="1"/>
          <p:nvPr/>
        </p:nvSpPr>
        <p:spPr>
          <a:xfrm>
            <a:off x="540074" y="4231871"/>
            <a:ext cx="6128084" cy="2062103"/>
          </a:xfrm>
          <a:prstGeom prst="rect">
            <a:avLst/>
          </a:prstGeom>
          <a:noFill/>
        </p:spPr>
        <p:txBody>
          <a:bodyPr wrap="square" rtlCol="0">
            <a:spAutoFit/>
          </a:bodyPr>
          <a:lstStyle/>
          <a:p>
            <a:r>
              <a:rPr lang="pt-BR" sz="1600" dirty="0">
                <a:latin typeface="Crimson Text" pitchFamily="2" charset="0"/>
              </a:rPr>
              <a:t>Nenhuma frase descreve melhor a alma beneditina do que seu lema, Ora et Labora. A oração e o trabalho não existem em oposição; são duas forças que sustentam a vida monástica, como respiração e batimentos. São Bento dispôs uma rotina diária chamada </a:t>
            </a:r>
            <a:r>
              <a:rPr lang="pt-BR" sz="1600" dirty="0" err="1">
                <a:latin typeface="Crimson Text" pitchFamily="2" charset="0"/>
              </a:rPr>
              <a:t>Horarium</a:t>
            </a:r>
            <a:r>
              <a:rPr lang="pt-BR" sz="1600" dirty="0">
                <a:latin typeface="Crimson Text" pitchFamily="2" charset="0"/>
              </a:rPr>
              <a:t>, que ordena o tempo em celebrações litúrgicas, estudo espiritual e trabalho manual.</a:t>
            </a:r>
          </a:p>
          <a:p>
            <a:endParaRPr lang="pt-BR" sz="1600" dirty="0">
              <a:latin typeface="Crimson Text" pitchFamily="2" charset="0"/>
            </a:endParaRPr>
          </a:p>
          <a:p>
            <a:r>
              <a:rPr lang="pt-BR" sz="1600" dirty="0">
                <a:latin typeface="Crimson Text" pitchFamily="2" charset="0"/>
              </a:rPr>
              <a:t>Através da liturgia das Horas os monges Os monges se reúnem em diferentes momentos do dia para santificar o tempo:</a:t>
            </a:r>
          </a:p>
        </p:txBody>
      </p:sp>
      <p:graphicFrame>
        <p:nvGraphicFramePr>
          <p:cNvPr id="10" name="Tabela 9">
            <a:extLst>
              <a:ext uri="{FF2B5EF4-FFF2-40B4-BE49-F238E27FC236}">
                <a16:creationId xmlns:a16="http://schemas.microsoft.com/office/drawing/2014/main" id="{874B17A7-39A9-A5D8-616D-4CABC3288D2B}"/>
              </a:ext>
            </a:extLst>
          </p:cNvPr>
          <p:cNvGraphicFramePr>
            <a:graphicFrameLocks noGrp="1"/>
          </p:cNvGraphicFramePr>
          <p:nvPr>
            <p:extLst>
              <p:ext uri="{D42A27DB-BD31-4B8C-83A1-F6EECF244321}">
                <p14:modId xmlns:p14="http://schemas.microsoft.com/office/powerpoint/2010/main" val="3252822840"/>
              </p:ext>
            </p:extLst>
          </p:nvPr>
        </p:nvGraphicFramePr>
        <p:xfrm>
          <a:off x="471488" y="6250748"/>
          <a:ext cx="5915025" cy="2727960"/>
        </p:xfrm>
        <a:graphic>
          <a:graphicData uri="http://schemas.openxmlformats.org/drawingml/2006/table">
            <a:tbl>
              <a:tblPr>
                <a:tableStyleId>{284E427A-3D55-4303-BF80-6455036E1DE7}</a:tableStyleId>
              </a:tblPr>
              <a:tblGrid>
                <a:gridCol w="1971675">
                  <a:extLst>
                    <a:ext uri="{9D8B030D-6E8A-4147-A177-3AD203B41FA5}">
                      <a16:colId xmlns:a16="http://schemas.microsoft.com/office/drawing/2014/main" val="2789138388"/>
                    </a:ext>
                  </a:extLst>
                </a:gridCol>
                <a:gridCol w="1971675">
                  <a:extLst>
                    <a:ext uri="{9D8B030D-6E8A-4147-A177-3AD203B41FA5}">
                      <a16:colId xmlns:a16="http://schemas.microsoft.com/office/drawing/2014/main" val="1048658416"/>
                    </a:ext>
                  </a:extLst>
                </a:gridCol>
                <a:gridCol w="1971675">
                  <a:extLst>
                    <a:ext uri="{9D8B030D-6E8A-4147-A177-3AD203B41FA5}">
                      <a16:colId xmlns:a16="http://schemas.microsoft.com/office/drawing/2014/main" val="2000439108"/>
                    </a:ext>
                  </a:extLst>
                </a:gridCol>
              </a:tblGrid>
              <a:tr h="0">
                <a:tc>
                  <a:txBody>
                    <a:bodyPr/>
                    <a:lstStyle/>
                    <a:p>
                      <a:pPr marL="0" algn="l" defTabSz="685800" rtl="0" eaLnBrk="1" latinLnBrk="0" hangingPunct="1">
                        <a:buNone/>
                      </a:pPr>
                      <a:r>
                        <a:rPr lang="pt-BR" sz="1300" kern="1200" dirty="0">
                          <a:solidFill>
                            <a:schemeClr val="dk1"/>
                          </a:solidFill>
                        </a:rPr>
                        <a:t>Nome tradicional</a:t>
                      </a:r>
                      <a:endParaRPr lang="pt-BR" sz="1300" kern="1200" dirty="0">
                        <a:solidFill>
                          <a:schemeClr val="dk1"/>
                        </a:solidFill>
                        <a:latin typeface="Crimson Text" pitchFamily="2" charset="0"/>
                        <a:ea typeface="+mn-ea"/>
                        <a:cs typeface="+mn-cs"/>
                      </a:endParaRPr>
                    </a:p>
                  </a:txBody>
                  <a:tcPr anchor="ctr">
                    <a:solidFill>
                      <a:srgbClr val="FEE485"/>
                    </a:solidFill>
                  </a:tcPr>
                </a:tc>
                <a:tc>
                  <a:txBody>
                    <a:bodyPr/>
                    <a:lstStyle/>
                    <a:p>
                      <a:pPr marL="0" algn="l" defTabSz="685800" rtl="0" eaLnBrk="1" latinLnBrk="0" hangingPunct="1">
                        <a:buNone/>
                      </a:pPr>
                      <a:r>
                        <a:rPr lang="pt-BR" sz="1300" kern="1200">
                          <a:solidFill>
                            <a:schemeClr val="dk1"/>
                          </a:solidFill>
                        </a:rPr>
                        <a:t>Momento aproximado</a:t>
                      </a:r>
                      <a:endParaRPr lang="pt-BR" sz="1300" kern="1200">
                        <a:solidFill>
                          <a:schemeClr val="dk1"/>
                        </a:solidFill>
                        <a:latin typeface="Crimson Text" pitchFamily="2" charset="0"/>
                        <a:ea typeface="+mn-ea"/>
                        <a:cs typeface="+mn-cs"/>
                      </a:endParaRPr>
                    </a:p>
                  </a:txBody>
                  <a:tcPr anchor="ctr">
                    <a:solidFill>
                      <a:srgbClr val="FEE485"/>
                    </a:solidFill>
                  </a:tcPr>
                </a:tc>
                <a:tc>
                  <a:txBody>
                    <a:bodyPr/>
                    <a:lstStyle/>
                    <a:p>
                      <a:pPr marL="0" algn="l" defTabSz="685800" rtl="0" eaLnBrk="1" latinLnBrk="0" hangingPunct="1">
                        <a:buNone/>
                      </a:pPr>
                      <a:r>
                        <a:rPr lang="pt-BR" sz="1300" kern="1200" dirty="0">
                          <a:solidFill>
                            <a:schemeClr val="dk1"/>
                          </a:solidFill>
                        </a:rPr>
                        <a:t>Sentido espiritual</a:t>
                      </a:r>
                      <a:endParaRPr lang="pt-BR" sz="1300" kern="1200" dirty="0">
                        <a:solidFill>
                          <a:schemeClr val="dk1"/>
                        </a:solidFill>
                        <a:latin typeface="Crimson Text" pitchFamily="2" charset="0"/>
                        <a:ea typeface="+mn-ea"/>
                        <a:cs typeface="+mn-cs"/>
                      </a:endParaRPr>
                    </a:p>
                  </a:txBody>
                  <a:tcPr anchor="ctr">
                    <a:solidFill>
                      <a:srgbClr val="FEE485"/>
                    </a:solidFill>
                  </a:tcPr>
                </a:tc>
                <a:extLst>
                  <a:ext uri="{0D108BD9-81ED-4DB2-BD59-A6C34878D82A}">
                    <a16:rowId xmlns:a16="http://schemas.microsoft.com/office/drawing/2014/main" val="2295370711"/>
                  </a:ext>
                </a:extLst>
              </a:tr>
              <a:tr h="0">
                <a:tc>
                  <a:txBody>
                    <a:bodyPr/>
                    <a:lstStyle/>
                    <a:p>
                      <a:pPr marL="0" algn="l" defTabSz="685800" rtl="0" eaLnBrk="1" latinLnBrk="0" hangingPunct="1">
                        <a:buNone/>
                      </a:pPr>
                      <a:r>
                        <a:rPr lang="pt-BR" sz="1300" kern="1200" dirty="0">
                          <a:solidFill>
                            <a:schemeClr val="dk1"/>
                          </a:solidFill>
                        </a:rPr>
                        <a:t>Vigílias / Matinas</a:t>
                      </a:r>
                      <a:endParaRPr lang="pt-BR" sz="1300" kern="1200" dirty="0">
                        <a:solidFill>
                          <a:schemeClr val="dk1"/>
                        </a:solidFill>
                        <a:latin typeface="Crimson Text" pitchFamily="2" charset="0"/>
                        <a:ea typeface="+mn-ea"/>
                        <a:cs typeface="+mn-cs"/>
                      </a:endParaRPr>
                    </a:p>
                  </a:txBody>
                  <a:tcPr anchor="ctr">
                    <a:solidFill>
                      <a:srgbClr val="FEE485"/>
                    </a:solidFill>
                  </a:tcPr>
                </a:tc>
                <a:tc>
                  <a:txBody>
                    <a:bodyPr/>
                    <a:lstStyle/>
                    <a:p>
                      <a:pPr marL="0" algn="l" defTabSz="685800" rtl="0" eaLnBrk="1" latinLnBrk="0" hangingPunct="1">
                        <a:buNone/>
                      </a:pPr>
                      <a:r>
                        <a:rPr lang="pt-BR" sz="1300" kern="1200">
                          <a:solidFill>
                            <a:schemeClr val="dk1"/>
                          </a:solidFill>
                        </a:rPr>
                        <a:t>Madrugada</a:t>
                      </a:r>
                      <a:endParaRPr lang="pt-BR" sz="1300" kern="1200">
                        <a:solidFill>
                          <a:schemeClr val="dk1"/>
                        </a:solidFill>
                        <a:latin typeface="Crimson Text" pitchFamily="2" charset="0"/>
                        <a:ea typeface="+mn-ea"/>
                        <a:cs typeface="+mn-cs"/>
                      </a:endParaRPr>
                    </a:p>
                  </a:txBody>
                  <a:tcPr anchor="ctr">
                    <a:solidFill>
                      <a:srgbClr val="FEE485"/>
                    </a:solidFill>
                  </a:tcPr>
                </a:tc>
                <a:tc>
                  <a:txBody>
                    <a:bodyPr/>
                    <a:lstStyle/>
                    <a:p>
                      <a:pPr marL="0" algn="l" defTabSz="685800" rtl="0" eaLnBrk="1" latinLnBrk="0" hangingPunct="1">
                        <a:buNone/>
                      </a:pPr>
                      <a:r>
                        <a:rPr lang="pt-BR" sz="1300" kern="1200">
                          <a:solidFill>
                            <a:schemeClr val="dk1"/>
                          </a:solidFill>
                        </a:rPr>
                        <a:t>Espera vigilante pela vinda do Senhor</a:t>
                      </a:r>
                      <a:endParaRPr lang="pt-BR" sz="1300" kern="1200">
                        <a:solidFill>
                          <a:schemeClr val="dk1"/>
                        </a:solidFill>
                        <a:latin typeface="Crimson Text" pitchFamily="2" charset="0"/>
                        <a:ea typeface="+mn-ea"/>
                        <a:cs typeface="+mn-cs"/>
                      </a:endParaRPr>
                    </a:p>
                  </a:txBody>
                  <a:tcPr anchor="ctr">
                    <a:solidFill>
                      <a:srgbClr val="FEE485"/>
                    </a:solidFill>
                  </a:tcPr>
                </a:tc>
                <a:extLst>
                  <a:ext uri="{0D108BD9-81ED-4DB2-BD59-A6C34878D82A}">
                    <a16:rowId xmlns:a16="http://schemas.microsoft.com/office/drawing/2014/main" val="3401791477"/>
                  </a:ext>
                </a:extLst>
              </a:tr>
              <a:tr h="0">
                <a:tc>
                  <a:txBody>
                    <a:bodyPr/>
                    <a:lstStyle/>
                    <a:p>
                      <a:pPr marL="0" algn="l" defTabSz="685800" rtl="0" eaLnBrk="1" latinLnBrk="0" hangingPunct="1">
                        <a:buNone/>
                      </a:pPr>
                      <a:r>
                        <a:rPr lang="pt-BR" sz="1300" kern="1200" dirty="0">
                          <a:solidFill>
                            <a:schemeClr val="dk1"/>
                          </a:solidFill>
                        </a:rPr>
                        <a:t>Laudes</a:t>
                      </a:r>
                      <a:endParaRPr lang="pt-BR" sz="1300" kern="1200" dirty="0">
                        <a:solidFill>
                          <a:schemeClr val="dk1"/>
                        </a:solidFill>
                        <a:latin typeface="Crimson Text" pitchFamily="2" charset="0"/>
                        <a:ea typeface="+mn-ea"/>
                        <a:cs typeface="+mn-cs"/>
                      </a:endParaRPr>
                    </a:p>
                  </a:txBody>
                  <a:tcPr anchor="ctr">
                    <a:solidFill>
                      <a:srgbClr val="FEE485"/>
                    </a:solidFill>
                  </a:tcPr>
                </a:tc>
                <a:tc>
                  <a:txBody>
                    <a:bodyPr/>
                    <a:lstStyle/>
                    <a:p>
                      <a:pPr marL="0" algn="l" defTabSz="685800" rtl="0" eaLnBrk="1" latinLnBrk="0" hangingPunct="1">
                        <a:buNone/>
                      </a:pPr>
                      <a:r>
                        <a:rPr lang="pt-BR" sz="1300" kern="1200" dirty="0">
                          <a:solidFill>
                            <a:schemeClr val="dk1"/>
                          </a:solidFill>
                        </a:rPr>
                        <a:t>Amanhecer</a:t>
                      </a:r>
                      <a:endParaRPr lang="pt-BR" sz="1300" kern="1200" dirty="0">
                        <a:solidFill>
                          <a:schemeClr val="dk1"/>
                        </a:solidFill>
                        <a:latin typeface="Crimson Text" pitchFamily="2" charset="0"/>
                        <a:ea typeface="+mn-ea"/>
                        <a:cs typeface="+mn-cs"/>
                      </a:endParaRPr>
                    </a:p>
                  </a:txBody>
                  <a:tcPr anchor="ctr">
                    <a:solidFill>
                      <a:srgbClr val="FEE485"/>
                    </a:solidFill>
                  </a:tcPr>
                </a:tc>
                <a:tc>
                  <a:txBody>
                    <a:bodyPr/>
                    <a:lstStyle/>
                    <a:p>
                      <a:pPr marL="0" algn="l" defTabSz="685800" rtl="0" eaLnBrk="1" latinLnBrk="0" hangingPunct="1">
                        <a:buNone/>
                      </a:pPr>
                      <a:r>
                        <a:rPr lang="pt-BR" sz="1300" kern="1200">
                          <a:solidFill>
                            <a:schemeClr val="dk1"/>
                          </a:solidFill>
                        </a:rPr>
                        <a:t>Louvor nascente como a luz da aurora</a:t>
                      </a:r>
                      <a:endParaRPr lang="pt-BR" sz="1300" kern="1200">
                        <a:solidFill>
                          <a:schemeClr val="dk1"/>
                        </a:solidFill>
                        <a:latin typeface="Crimson Text" pitchFamily="2" charset="0"/>
                        <a:ea typeface="+mn-ea"/>
                        <a:cs typeface="+mn-cs"/>
                      </a:endParaRPr>
                    </a:p>
                  </a:txBody>
                  <a:tcPr anchor="ctr">
                    <a:solidFill>
                      <a:srgbClr val="FEE485"/>
                    </a:solidFill>
                  </a:tcPr>
                </a:tc>
                <a:extLst>
                  <a:ext uri="{0D108BD9-81ED-4DB2-BD59-A6C34878D82A}">
                    <a16:rowId xmlns:a16="http://schemas.microsoft.com/office/drawing/2014/main" val="1244565888"/>
                  </a:ext>
                </a:extLst>
              </a:tr>
              <a:tr h="0">
                <a:tc>
                  <a:txBody>
                    <a:bodyPr/>
                    <a:lstStyle/>
                    <a:p>
                      <a:pPr marL="0" algn="l" defTabSz="685800" rtl="0" eaLnBrk="1" latinLnBrk="0" hangingPunct="1">
                        <a:buNone/>
                      </a:pPr>
                      <a:r>
                        <a:rPr lang="pt-BR" sz="1300" kern="1200">
                          <a:solidFill>
                            <a:schemeClr val="dk1"/>
                          </a:solidFill>
                        </a:rPr>
                        <a:t>Terça, Sexta, Noa</a:t>
                      </a:r>
                      <a:endParaRPr lang="pt-BR" sz="1300" kern="1200">
                        <a:solidFill>
                          <a:schemeClr val="dk1"/>
                        </a:solidFill>
                        <a:latin typeface="Crimson Text" pitchFamily="2" charset="0"/>
                        <a:ea typeface="+mn-ea"/>
                        <a:cs typeface="+mn-cs"/>
                      </a:endParaRPr>
                    </a:p>
                  </a:txBody>
                  <a:tcPr anchor="ctr">
                    <a:solidFill>
                      <a:srgbClr val="FEE485"/>
                    </a:solidFill>
                  </a:tcPr>
                </a:tc>
                <a:tc>
                  <a:txBody>
                    <a:bodyPr/>
                    <a:lstStyle/>
                    <a:p>
                      <a:pPr marL="0" algn="l" defTabSz="685800" rtl="0" eaLnBrk="1" latinLnBrk="0" hangingPunct="1">
                        <a:buNone/>
                      </a:pPr>
                      <a:r>
                        <a:rPr lang="pt-BR" sz="1300" kern="1200" dirty="0">
                          <a:solidFill>
                            <a:schemeClr val="dk1"/>
                          </a:solidFill>
                        </a:rPr>
                        <a:t>Terços do dia</a:t>
                      </a:r>
                      <a:endParaRPr lang="pt-BR" sz="1300" kern="1200" dirty="0">
                        <a:solidFill>
                          <a:schemeClr val="dk1"/>
                        </a:solidFill>
                        <a:latin typeface="Crimson Text" pitchFamily="2" charset="0"/>
                        <a:ea typeface="+mn-ea"/>
                        <a:cs typeface="+mn-cs"/>
                      </a:endParaRPr>
                    </a:p>
                  </a:txBody>
                  <a:tcPr anchor="ctr">
                    <a:solidFill>
                      <a:srgbClr val="FEE485"/>
                    </a:solidFill>
                  </a:tcPr>
                </a:tc>
                <a:tc>
                  <a:txBody>
                    <a:bodyPr/>
                    <a:lstStyle/>
                    <a:p>
                      <a:pPr marL="0" algn="l" defTabSz="685800" rtl="0" eaLnBrk="1" latinLnBrk="0" hangingPunct="1">
                        <a:buNone/>
                      </a:pPr>
                      <a:r>
                        <a:rPr lang="pt-BR" sz="1300" kern="1200" dirty="0">
                          <a:solidFill>
                            <a:schemeClr val="dk1"/>
                          </a:solidFill>
                        </a:rPr>
                        <a:t>Consagração do trabalho e dos encontros</a:t>
                      </a:r>
                      <a:endParaRPr lang="pt-BR" sz="1300" kern="1200" dirty="0">
                        <a:solidFill>
                          <a:schemeClr val="dk1"/>
                        </a:solidFill>
                        <a:latin typeface="Crimson Text" pitchFamily="2" charset="0"/>
                        <a:ea typeface="+mn-ea"/>
                        <a:cs typeface="+mn-cs"/>
                      </a:endParaRPr>
                    </a:p>
                  </a:txBody>
                  <a:tcPr anchor="ctr">
                    <a:solidFill>
                      <a:srgbClr val="FEE485"/>
                    </a:solidFill>
                  </a:tcPr>
                </a:tc>
                <a:extLst>
                  <a:ext uri="{0D108BD9-81ED-4DB2-BD59-A6C34878D82A}">
                    <a16:rowId xmlns:a16="http://schemas.microsoft.com/office/drawing/2014/main" val="3925511589"/>
                  </a:ext>
                </a:extLst>
              </a:tr>
              <a:tr h="0">
                <a:tc>
                  <a:txBody>
                    <a:bodyPr/>
                    <a:lstStyle/>
                    <a:p>
                      <a:pPr>
                        <a:buNone/>
                      </a:pPr>
                      <a:r>
                        <a:rPr lang="pt-BR" sz="1300" kern="1200">
                          <a:solidFill>
                            <a:schemeClr val="dk1"/>
                          </a:solidFill>
                        </a:rPr>
                        <a:t>Vésperas</a:t>
                      </a:r>
                      <a:endParaRPr lang="pt-BR" sz="1300" kern="1200">
                        <a:solidFill>
                          <a:schemeClr val="dk1"/>
                        </a:solidFill>
                        <a:latin typeface="Crimson Text" pitchFamily="2" charset="0"/>
                        <a:ea typeface="+mn-ea"/>
                        <a:cs typeface="+mn-cs"/>
                      </a:endParaRPr>
                    </a:p>
                  </a:txBody>
                  <a:tcPr anchor="ctr">
                    <a:solidFill>
                      <a:srgbClr val="FEE485"/>
                    </a:solidFill>
                  </a:tcPr>
                </a:tc>
                <a:tc>
                  <a:txBody>
                    <a:bodyPr/>
                    <a:lstStyle/>
                    <a:p>
                      <a:pPr>
                        <a:buNone/>
                      </a:pPr>
                      <a:r>
                        <a:rPr lang="pt-BR" sz="1300" kern="1200">
                          <a:solidFill>
                            <a:schemeClr val="dk1"/>
                          </a:solidFill>
                        </a:rPr>
                        <a:t>Anoitecer</a:t>
                      </a:r>
                      <a:endParaRPr lang="pt-BR" sz="1300" kern="1200">
                        <a:solidFill>
                          <a:schemeClr val="dk1"/>
                        </a:solidFill>
                        <a:latin typeface="Crimson Text" pitchFamily="2" charset="0"/>
                        <a:ea typeface="+mn-ea"/>
                        <a:cs typeface="+mn-cs"/>
                      </a:endParaRPr>
                    </a:p>
                  </a:txBody>
                  <a:tcPr anchor="ctr">
                    <a:solidFill>
                      <a:srgbClr val="FEE485"/>
                    </a:solidFill>
                  </a:tcPr>
                </a:tc>
                <a:tc>
                  <a:txBody>
                    <a:bodyPr/>
                    <a:lstStyle/>
                    <a:p>
                      <a:pPr>
                        <a:buNone/>
                      </a:pPr>
                      <a:r>
                        <a:rPr lang="pt-BR" sz="1300" kern="1200" dirty="0">
                          <a:solidFill>
                            <a:schemeClr val="dk1"/>
                          </a:solidFill>
                        </a:rPr>
                        <a:t>Gratidão pelos dons recebidos</a:t>
                      </a:r>
                      <a:endParaRPr lang="pt-BR" sz="1300" kern="1200" dirty="0">
                        <a:solidFill>
                          <a:schemeClr val="dk1"/>
                        </a:solidFill>
                        <a:latin typeface="Crimson Text" pitchFamily="2" charset="0"/>
                        <a:ea typeface="+mn-ea"/>
                        <a:cs typeface="+mn-cs"/>
                      </a:endParaRPr>
                    </a:p>
                  </a:txBody>
                  <a:tcPr anchor="ctr">
                    <a:solidFill>
                      <a:srgbClr val="FEE485"/>
                    </a:solidFill>
                  </a:tcPr>
                </a:tc>
                <a:extLst>
                  <a:ext uri="{0D108BD9-81ED-4DB2-BD59-A6C34878D82A}">
                    <a16:rowId xmlns:a16="http://schemas.microsoft.com/office/drawing/2014/main" val="1576894679"/>
                  </a:ext>
                </a:extLst>
              </a:tr>
              <a:tr h="0">
                <a:tc>
                  <a:txBody>
                    <a:bodyPr/>
                    <a:lstStyle/>
                    <a:p>
                      <a:pPr>
                        <a:buNone/>
                      </a:pPr>
                      <a:r>
                        <a:rPr lang="pt-BR" sz="1300" kern="1200">
                          <a:solidFill>
                            <a:schemeClr val="dk1"/>
                          </a:solidFill>
                        </a:rPr>
                        <a:t>Completas</a:t>
                      </a:r>
                      <a:endParaRPr lang="pt-BR" sz="1300" kern="1200">
                        <a:solidFill>
                          <a:schemeClr val="dk1"/>
                        </a:solidFill>
                        <a:latin typeface="Crimson Text" pitchFamily="2" charset="0"/>
                        <a:ea typeface="+mn-ea"/>
                        <a:cs typeface="+mn-cs"/>
                      </a:endParaRPr>
                    </a:p>
                  </a:txBody>
                  <a:tcPr anchor="ctr">
                    <a:solidFill>
                      <a:srgbClr val="FEE485"/>
                    </a:solidFill>
                  </a:tcPr>
                </a:tc>
                <a:tc>
                  <a:txBody>
                    <a:bodyPr/>
                    <a:lstStyle/>
                    <a:p>
                      <a:pPr>
                        <a:buNone/>
                      </a:pPr>
                      <a:r>
                        <a:rPr lang="pt-BR" sz="1300" kern="1200">
                          <a:solidFill>
                            <a:schemeClr val="dk1"/>
                          </a:solidFill>
                        </a:rPr>
                        <a:t>Noite</a:t>
                      </a:r>
                      <a:endParaRPr lang="pt-BR" sz="1300" kern="1200">
                        <a:solidFill>
                          <a:schemeClr val="dk1"/>
                        </a:solidFill>
                        <a:latin typeface="Crimson Text" pitchFamily="2" charset="0"/>
                        <a:ea typeface="+mn-ea"/>
                        <a:cs typeface="+mn-cs"/>
                      </a:endParaRPr>
                    </a:p>
                  </a:txBody>
                  <a:tcPr anchor="ctr">
                    <a:solidFill>
                      <a:srgbClr val="FEE485"/>
                    </a:solidFill>
                  </a:tcPr>
                </a:tc>
                <a:tc>
                  <a:txBody>
                    <a:bodyPr/>
                    <a:lstStyle/>
                    <a:p>
                      <a:pPr>
                        <a:buNone/>
                      </a:pPr>
                      <a:r>
                        <a:rPr lang="pt-BR" sz="1300" kern="1200" dirty="0">
                          <a:solidFill>
                            <a:schemeClr val="dk1"/>
                          </a:solidFill>
                        </a:rPr>
                        <a:t>Entrega final da alma ao repouso em Deus</a:t>
                      </a:r>
                      <a:endParaRPr lang="pt-BR" sz="1300" kern="1200" dirty="0">
                        <a:solidFill>
                          <a:schemeClr val="dk1"/>
                        </a:solidFill>
                        <a:latin typeface="Crimson Text" pitchFamily="2" charset="0"/>
                        <a:ea typeface="+mn-ea"/>
                        <a:cs typeface="+mn-cs"/>
                      </a:endParaRPr>
                    </a:p>
                  </a:txBody>
                  <a:tcPr anchor="ctr">
                    <a:solidFill>
                      <a:srgbClr val="FEE485"/>
                    </a:solidFill>
                  </a:tcPr>
                </a:tc>
                <a:extLst>
                  <a:ext uri="{0D108BD9-81ED-4DB2-BD59-A6C34878D82A}">
                    <a16:rowId xmlns:a16="http://schemas.microsoft.com/office/drawing/2014/main" val="367216374"/>
                  </a:ext>
                </a:extLst>
              </a:tr>
            </a:tbl>
          </a:graphicData>
        </a:graphic>
      </p:graphicFrame>
      <p:sp>
        <p:nvSpPr>
          <p:cNvPr id="11" name="Texto">
            <a:extLst>
              <a:ext uri="{FF2B5EF4-FFF2-40B4-BE49-F238E27FC236}">
                <a16:creationId xmlns:a16="http://schemas.microsoft.com/office/drawing/2014/main" id="{81D4097F-CB68-006A-A1DA-24574DBB183C}"/>
              </a:ext>
            </a:extLst>
          </p:cNvPr>
          <p:cNvSpPr txBox="1"/>
          <p:nvPr/>
        </p:nvSpPr>
        <p:spPr>
          <a:xfrm>
            <a:off x="538726" y="9004803"/>
            <a:ext cx="6128084" cy="584775"/>
          </a:xfrm>
          <a:prstGeom prst="rect">
            <a:avLst/>
          </a:prstGeom>
          <a:noFill/>
        </p:spPr>
        <p:txBody>
          <a:bodyPr wrap="square" rtlCol="0">
            <a:spAutoFit/>
          </a:bodyPr>
          <a:lstStyle/>
          <a:p>
            <a:r>
              <a:rPr lang="pt-BR" sz="1600" dirty="0">
                <a:latin typeface="Crimson Text" pitchFamily="2" charset="0"/>
              </a:rPr>
              <a:t>Nos mosteiros mais observantes, o Ofício Divino pode durar até 4 a 6 horas por dia.</a:t>
            </a:r>
          </a:p>
        </p:txBody>
      </p:sp>
    </p:spTree>
    <p:extLst>
      <p:ext uri="{BB962C8B-B14F-4D97-AF65-F5344CB8AC3E}">
        <p14:creationId xmlns:p14="http://schemas.microsoft.com/office/powerpoint/2010/main" val="1858221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85EB2-D903-A1FC-C61C-6DA173FF1B7D}"/>
            </a:ext>
          </a:extLst>
        </p:cNvPr>
        <p:cNvGrpSpPr/>
        <p:nvPr/>
      </p:nvGrpSpPr>
      <p:grpSpPr>
        <a:xfrm>
          <a:off x="0" y="0"/>
          <a:ext cx="0" cy="0"/>
          <a:chOff x="0" y="0"/>
          <a:chExt cx="0" cy="0"/>
        </a:xfrm>
      </p:grpSpPr>
      <p:sp>
        <p:nvSpPr>
          <p:cNvPr id="8" name="SubTitulo">
            <a:extLst>
              <a:ext uri="{FF2B5EF4-FFF2-40B4-BE49-F238E27FC236}">
                <a16:creationId xmlns:a16="http://schemas.microsoft.com/office/drawing/2014/main" id="{EC7F579E-8408-14FB-5C0E-1685595A5008}"/>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Os Votos</a:t>
            </a:r>
          </a:p>
        </p:txBody>
      </p:sp>
      <p:sp>
        <p:nvSpPr>
          <p:cNvPr id="6" name="Titulo">
            <a:extLst>
              <a:ext uri="{FF2B5EF4-FFF2-40B4-BE49-F238E27FC236}">
                <a16:creationId xmlns:a16="http://schemas.microsoft.com/office/drawing/2014/main" id="{A723590C-5B77-68FE-B004-B66F068E21A0}"/>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Santa Ordem Beneditina:</a:t>
            </a:r>
          </a:p>
        </p:txBody>
      </p:sp>
      <p:sp>
        <p:nvSpPr>
          <p:cNvPr id="2" name="Retângulo 1">
            <a:extLst>
              <a:ext uri="{FF2B5EF4-FFF2-40B4-BE49-F238E27FC236}">
                <a16:creationId xmlns:a16="http://schemas.microsoft.com/office/drawing/2014/main" id="{DACEA6C9-E10C-2FD2-47FE-E16976CEF81F}"/>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A9F19A48-15AA-D104-A15D-75D7AE4AD638}"/>
              </a:ext>
            </a:extLst>
          </p:cNvPr>
          <p:cNvSpPr txBox="1"/>
          <p:nvPr/>
        </p:nvSpPr>
        <p:spPr>
          <a:xfrm>
            <a:off x="3237748" y="1681958"/>
            <a:ext cx="312821" cy="369332"/>
          </a:xfrm>
          <a:prstGeom prst="rect">
            <a:avLst/>
          </a:prstGeom>
          <a:noFill/>
        </p:spPr>
        <p:txBody>
          <a:bodyPr wrap="square" rtlCol="0">
            <a:spAutoFit/>
          </a:bodyPr>
          <a:lstStyle/>
          <a:p>
            <a:r>
              <a:rPr lang="pt-BR" dirty="0"/>
              <a:t>✠</a:t>
            </a:r>
          </a:p>
        </p:txBody>
      </p:sp>
      <p:sp>
        <p:nvSpPr>
          <p:cNvPr id="5" name="Texto">
            <a:extLst>
              <a:ext uri="{FF2B5EF4-FFF2-40B4-BE49-F238E27FC236}">
                <a16:creationId xmlns:a16="http://schemas.microsoft.com/office/drawing/2014/main" id="{3EF33DF7-AB9A-84D6-4815-2D8F1550874C}"/>
              </a:ext>
            </a:extLst>
          </p:cNvPr>
          <p:cNvSpPr txBox="1"/>
          <p:nvPr/>
        </p:nvSpPr>
        <p:spPr>
          <a:xfrm>
            <a:off x="541422" y="1991735"/>
            <a:ext cx="6128084" cy="4278094"/>
          </a:xfrm>
          <a:prstGeom prst="rect">
            <a:avLst/>
          </a:prstGeom>
          <a:noFill/>
        </p:spPr>
        <p:txBody>
          <a:bodyPr wrap="square" rtlCol="0">
            <a:spAutoFit/>
          </a:bodyPr>
          <a:lstStyle/>
          <a:p>
            <a:r>
              <a:rPr lang="pt-BR" sz="1600" dirty="0">
                <a:latin typeface="Crimson Text" pitchFamily="2" charset="0"/>
              </a:rPr>
              <a:t>Diferentemente de outras famílias religiosas, os beneditinos costumam professar três compromissos:</a:t>
            </a:r>
          </a:p>
          <a:p>
            <a:endParaRPr lang="pt-BR" sz="1600" dirty="0">
              <a:latin typeface="Crimson Text" pitchFamily="2" charset="0"/>
            </a:endParaRPr>
          </a:p>
          <a:p>
            <a:pPr marL="285750" indent="-285750">
              <a:buFont typeface="Crimson Text" pitchFamily="2" charset="0"/>
              <a:buChar char="†"/>
            </a:pPr>
            <a:r>
              <a:rPr lang="pt-BR" sz="1600" dirty="0">
                <a:latin typeface="Crimson Text" pitchFamily="2" charset="0"/>
              </a:rPr>
              <a:t>Estabilidade – permanecer na mesma comunidade pelo resto da vida, criando raízes espirituais profundas.</a:t>
            </a:r>
          </a:p>
          <a:p>
            <a:pPr marL="285750" indent="-285750">
              <a:buFont typeface="Crimson Text" pitchFamily="2" charset="0"/>
              <a:buChar char="†"/>
            </a:pPr>
            <a:r>
              <a:rPr lang="pt-BR" sz="1600" dirty="0">
                <a:latin typeface="Crimson Text" pitchFamily="2" charset="0"/>
              </a:rPr>
              <a:t>Conversão dos costumes (</a:t>
            </a:r>
            <a:r>
              <a:rPr lang="pt-BR" sz="1600" dirty="0" err="1">
                <a:latin typeface="Crimson Text" pitchFamily="2" charset="0"/>
              </a:rPr>
              <a:t>conversatio</a:t>
            </a:r>
            <a:r>
              <a:rPr lang="pt-BR" sz="1600" dirty="0">
                <a:latin typeface="Crimson Text" pitchFamily="2" charset="0"/>
              </a:rPr>
              <a:t> </a:t>
            </a:r>
            <a:r>
              <a:rPr lang="pt-BR" sz="1600" dirty="0" err="1">
                <a:latin typeface="Crimson Text" pitchFamily="2" charset="0"/>
              </a:rPr>
              <a:t>morum</a:t>
            </a:r>
            <a:r>
              <a:rPr lang="pt-BR" sz="1600" dirty="0">
                <a:latin typeface="Crimson Text" pitchFamily="2" charset="0"/>
              </a:rPr>
              <a:t>) – processo de transformação constante do coração.</a:t>
            </a:r>
          </a:p>
          <a:p>
            <a:pPr marL="285750" indent="-285750">
              <a:buFont typeface="Crimson Text" pitchFamily="2" charset="0"/>
              <a:buChar char="†"/>
            </a:pPr>
            <a:r>
              <a:rPr lang="pt-BR" sz="1600" dirty="0">
                <a:latin typeface="Crimson Text" pitchFamily="2" charset="0"/>
              </a:rPr>
              <a:t>Obediência – escuta e docilidade à vontade de Deus manifestada na Regra e no Abade.</a:t>
            </a:r>
          </a:p>
          <a:p>
            <a:endParaRPr lang="pt-BR" sz="1600" dirty="0">
              <a:latin typeface="Crimson Text" pitchFamily="2" charset="0"/>
            </a:endParaRPr>
          </a:p>
          <a:p>
            <a:r>
              <a:rPr lang="pt-BR" sz="1600" dirty="0">
                <a:latin typeface="Crimson Text" pitchFamily="2" charset="0"/>
              </a:rPr>
              <a:t>Esse vínculo com um lugar, um ritmo e uma fraternidade transforma o mosteiro numa espécie de habitação de Deus na terra, segundo a tradição dos Padres do Deserto.</a:t>
            </a:r>
          </a:p>
          <a:p>
            <a:endParaRPr lang="pt-BR" sz="1600" dirty="0">
              <a:latin typeface="Crimson Text" pitchFamily="2" charset="0"/>
            </a:endParaRPr>
          </a:p>
          <a:p>
            <a:pPr marL="285750" indent="-285750">
              <a:buFont typeface="Crimson Text" pitchFamily="2" charset="0"/>
              <a:buChar char="†"/>
            </a:pPr>
            <a:r>
              <a:rPr lang="pt-BR" sz="1600" dirty="0">
                <a:latin typeface="Crimson Text" pitchFamily="2" charset="0"/>
              </a:rPr>
              <a:t>A Hospitalidade Beneditina:</a:t>
            </a:r>
          </a:p>
          <a:p>
            <a:endParaRPr lang="pt-BR" sz="1600" dirty="0">
              <a:latin typeface="Crimson Text" pitchFamily="2" charset="0"/>
            </a:endParaRPr>
          </a:p>
          <a:p>
            <a:r>
              <a:rPr lang="pt-BR" sz="1600" dirty="0">
                <a:latin typeface="Crimson Text" pitchFamily="2" charset="0"/>
              </a:rPr>
              <a:t>Entre as características mais marcantes da Ordem, São Bento afirma: </a:t>
            </a:r>
          </a:p>
        </p:txBody>
      </p:sp>
      <p:sp>
        <p:nvSpPr>
          <p:cNvPr id="9" name="Espaço Reservado para Número de Slide 8">
            <a:extLst>
              <a:ext uri="{FF2B5EF4-FFF2-40B4-BE49-F238E27FC236}">
                <a16:creationId xmlns:a16="http://schemas.microsoft.com/office/drawing/2014/main" id="{E666025C-5330-923E-97D0-2564C42B5386}"/>
              </a:ext>
            </a:extLst>
          </p:cNvPr>
          <p:cNvSpPr>
            <a:spLocks noGrp="1"/>
          </p:cNvSpPr>
          <p:nvPr>
            <p:ph type="sldNum" sz="quarter" idx="12"/>
          </p:nvPr>
        </p:nvSpPr>
        <p:spPr/>
        <p:txBody>
          <a:bodyPr/>
          <a:lstStyle/>
          <a:p>
            <a:fld id="{9A399360-F993-465D-8DB3-70366CB522FF}" type="slidenum">
              <a:rPr lang="pt-BR" smtClean="0"/>
              <a:t>14</a:t>
            </a:fld>
            <a:endParaRPr lang="pt-BR" dirty="0"/>
          </a:p>
        </p:txBody>
      </p:sp>
      <p:sp>
        <p:nvSpPr>
          <p:cNvPr id="7" name="CaixaDeTexto 6">
            <a:extLst>
              <a:ext uri="{FF2B5EF4-FFF2-40B4-BE49-F238E27FC236}">
                <a16:creationId xmlns:a16="http://schemas.microsoft.com/office/drawing/2014/main" id="{0AA1B80C-B7F4-BC41-F0C8-B37A216B257D}"/>
              </a:ext>
            </a:extLst>
          </p:cNvPr>
          <p:cNvSpPr txBox="1"/>
          <p:nvPr/>
        </p:nvSpPr>
        <p:spPr>
          <a:xfrm>
            <a:off x="1105889" y="6187914"/>
            <a:ext cx="4647426" cy="1200329"/>
          </a:xfrm>
          <a:prstGeom prst="rect">
            <a:avLst/>
          </a:prstGeom>
          <a:noFill/>
        </p:spPr>
        <p:txBody>
          <a:bodyPr wrap="none" rtlCol="0">
            <a:spAutoFit/>
          </a:bodyPr>
          <a:lstStyle/>
          <a:p>
            <a:r>
              <a:rPr lang="pt-BR" b="1" dirty="0">
                <a:latin typeface="Crimson Text" pitchFamily="2" charset="0"/>
              </a:rPr>
              <a:t>"Todos os hóspedes que chegarem sejam recebidos</a:t>
            </a:r>
          </a:p>
          <a:p>
            <a:r>
              <a:rPr lang="pt-BR" b="1" dirty="0">
                <a:latin typeface="Crimson Text" pitchFamily="2" charset="0"/>
              </a:rPr>
              <a:t> como o próprio Cristo. “</a:t>
            </a:r>
          </a:p>
          <a:p>
            <a:r>
              <a:rPr lang="pt-BR" i="1" dirty="0">
                <a:latin typeface="Crimson Text" pitchFamily="2" charset="0"/>
              </a:rPr>
              <a:t>Para que em tudo Deus seja glorificado.</a:t>
            </a:r>
          </a:p>
          <a:p>
            <a:r>
              <a:rPr lang="pt-BR" dirty="0">
                <a:latin typeface="Crimson Text" pitchFamily="2" charset="0"/>
              </a:rPr>
              <a:t>- Regra de São Bento, cap. LIII</a:t>
            </a:r>
          </a:p>
        </p:txBody>
      </p:sp>
      <p:sp>
        <p:nvSpPr>
          <p:cNvPr id="10" name="Texto">
            <a:extLst>
              <a:ext uri="{FF2B5EF4-FFF2-40B4-BE49-F238E27FC236}">
                <a16:creationId xmlns:a16="http://schemas.microsoft.com/office/drawing/2014/main" id="{8EC769F6-1008-5C83-E35D-6BE030B94665}"/>
              </a:ext>
            </a:extLst>
          </p:cNvPr>
          <p:cNvSpPr txBox="1"/>
          <p:nvPr/>
        </p:nvSpPr>
        <p:spPr>
          <a:xfrm>
            <a:off x="541422" y="7363835"/>
            <a:ext cx="6128084" cy="584775"/>
          </a:xfrm>
          <a:prstGeom prst="rect">
            <a:avLst/>
          </a:prstGeom>
          <a:noFill/>
        </p:spPr>
        <p:txBody>
          <a:bodyPr wrap="square" rtlCol="0">
            <a:spAutoFit/>
          </a:bodyPr>
          <a:lstStyle/>
          <a:p>
            <a:r>
              <a:rPr lang="pt-BR" sz="1600" dirty="0">
                <a:latin typeface="Crimson Text" pitchFamily="2" charset="0"/>
              </a:rPr>
              <a:t>Mosteiros tornaram-se, ao longo da história, lugares de acolhida para peregrinos, estudiosos, doentes, viajantes e buscadores.</a:t>
            </a:r>
          </a:p>
        </p:txBody>
      </p:sp>
    </p:spTree>
    <p:extLst>
      <p:ext uri="{BB962C8B-B14F-4D97-AF65-F5344CB8AC3E}">
        <p14:creationId xmlns:p14="http://schemas.microsoft.com/office/powerpoint/2010/main" val="1934600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79513-33A8-D7FB-14F8-B3E551E6F7C0}"/>
            </a:ext>
          </a:extLst>
        </p:cNvPr>
        <p:cNvGrpSpPr/>
        <p:nvPr/>
      </p:nvGrpSpPr>
      <p:grpSpPr>
        <a:xfrm>
          <a:off x="0" y="0"/>
          <a:ext cx="0" cy="0"/>
          <a:chOff x="0" y="0"/>
          <a:chExt cx="0" cy="0"/>
        </a:xfrm>
      </p:grpSpPr>
      <p:sp>
        <p:nvSpPr>
          <p:cNvPr id="8" name="SubTitulo">
            <a:extLst>
              <a:ext uri="{FF2B5EF4-FFF2-40B4-BE49-F238E27FC236}">
                <a16:creationId xmlns:a16="http://schemas.microsoft.com/office/drawing/2014/main" id="{C348CE74-261A-D1F2-EC34-01BC321C84E9}"/>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O Mosteiro como Tesouro da Civilização</a:t>
            </a:r>
          </a:p>
        </p:txBody>
      </p:sp>
      <p:sp>
        <p:nvSpPr>
          <p:cNvPr id="6" name="Titulo">
            <a:extLst>
              <a:ext uri="{FF2B5EF4-FFF2-40B4-BE49-F238E27FC236}">
                <a16:creationId xmlns:a16="http://schemas.microsoft.com/office/drawing/2014/main" id="{9B7012EA-A410-AB28-91E2-7D5C1A924958}"/>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Santa Ordem Beneditina:</a:t>
            </a:r>
          </a:p>
        </p:txBody>
      </p:sp>
      <p:sp>
        <p:nvSpPr>
          <p:cNvPr id="2" name="Retângulo 1">
            <a:extLst>
              <a:ext uri="{FF2B5EF4-FFF2-40B4-BE49-F238E27FC236}">
                <a16:creationId xmlns:a16="http://schemas.microsoft.com/office/drawing/2014/main" id="{A60E6370-17FF-47A3-E5D7-3E1D379775C6}"/>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AA84082E-672E-D640-47BA-0724A66DBDB0}"/>
              </a:ext>
            </a:extLst>
          </p:cNvPr>
          <p:cNvSpPr txBox="1"/>
          <p:nvPr/>
        </p:nvSpPr>
        <p:spPr>
          <a:xfrm>
            <a:off x="3237748" y="1681958"/>
            <a:ext cx="312821" cy="369332"/>
          </a:xfrm>
          <a:prstGeom prst="rect">
            <a:avLst/>
          </a:prstGeom>
          <a:noFill/>
        </p:spPr>
        <p:txBody>
          <a:bodyPr wrap="square" rtlCol="0">
            <a:spAutoFit/>
          </a:bodyPr>
          <a:lstStyle/>
          <a:p>
            <a:r>
              <a:rPr lang="pt-BR" dirty="0"/>
              <a:t>✠</a:t>
            </a:r>
          </a:p>
        </p:txBody>
      </p:sp>
      <p:sp>
        <p:nvSpPr>
          <p:cNvPr id="5" name="Texto">
            <a:extLst>
              <a:ext uri="{FF2B5EF4-FFF2-40B4-BE49-F238E27FC236}">
                <a16:creationId xmlns:a16="http://schemas.microsoft.com/office/drawing/2014/main" id="{E846B03C-D917-FCFA-0F33-EEC76EA3DEC4}"/>
              </a:ext>
            </a:extLst>
          </p:cNvPr>
          <p:cNvSpPr txBox="1"/>
          <p:nvPr/>
        </p:nvSpPr>
        <p:spPr>
          <a:xfrm>
            <a:off x="541422" y="1991735"/>
            <a:ext cx="6128084" cy="7725192"/>
          </a:xfrm>
          <a:prstGeom prst="rect">
            <a:avLst/>
          </a:prstGeom>
          <a:noFill/>
        </p:spPr>
        <p:txBody>
          <a:bodyPr wrap="square" rtlCol="0">
            <a:spAutoFit/>
          </a:bodyPr>
          <a:lstStyle/>
          <a:p>
            <a:r>
              <a:rPr lang="pt-BR" sz="1600" dirty="0">
                <a:latin typeface="Crimson Text" pitchFamily="2" charset="0"/>
              </a:rPr>
              <a:t>Se a vida interna do mosteiro era silenciosa, seu impacto na história da civilização foi estrondoso. A Ordem Beneditina transformou-se em um dos principais pilares culturais da Europa medieval.</a:t>
            </a:r>
          </a:p>
          <a:p>
            <a:endParaRPr lang="pt-BR" sz="1600" dirty="0">
              <a:latin typeface="Crimson Text" pitchFamily="2" charset="0"/>
            </a:endParaRPr>
          </a:p>
          <a:p>
            <a:r>
              <a:rPr lang="pt-BR" sz="1600" dirty="0">
                <a:latin typeface="Crimson Text" pitchFamily="2" charset="0"/>
              </a:rPr>
              <a:t>Monges copistas salvaram centenas de obras da antiguidade clássica, preservando:</a:t>
            </a:r>
          </a:p>
          <a:p>
            <a:endParaRPr lang="pt-BR" sz="1600" dirty="0">
              <a:latin typeface="Crimson Text" pitchFamily="2" charset="0"/>
            </a:endParaRPr>
          </a:p>
          <a:p>
            <a:pPr marL="285750" indent="-285750">
              <a:buFont typeface="Crimson Text" pitchFamily="2" charset="0"/>
              <a:buChar char="†"/>
            </a:pPr>
            <a:r>
              <a:rPr lang="pt-BR" sz="1600" dirty="0">
                <a:latin typeface="Crimson Text" pitchFamily="2" charset="0"/>
              </a:rPr>
              <a:t>Textos bíblicos e </a:t>
            </a:r>
            <a:r>
              <a:rPr lang="pt-BR" sz="1600" dirty="0" err="1">
                <a:latin typeface="Crimson Text" pitchFamily="2" charset="0"/>
              </a:rPr>
              <a:t>patrísticos</a:t>
            </a:r>
            <a:endParaRPr lang="pt-BR" sz="1600" dirty="0">
              <a:latin typeface="Crimson Text" pitchFamily="2" charset="0"/>
            </a:endParaRPr>
          </a:p>
          <a:p>
            <a:pPr marL="285750" indent="-285750">
              <a:buFont typeface="Crimson Text" pitchFamily="2" charset="0"/>
              <a:buChar char="†"/>
            </a:pPr>
            <a:r>
              <a:rPr lang="pt-BR" sz="1600" dirty="0">
                <a:latin typeface="Crimson Text" pitchFamily="2" charset="0"/>
              </a:rPr>
              <a:t>Obras de filosofia, medicina, direito e matemática</a:t>
            </a:r>
          </a:p>
          <a:p>
            <a:pPr marL="285750" indent="-285750">
              <a:buFont typeface="Crimson Text" pitchFamily="2" charset="0"/>
              <a:buChar char="†"/>
            </a:pPr>
            <a:r>
              <a:rPr lang="pt-BR" sz="1600" dirty="0">
                <a:latin typeface="Crimson Text" pitchFamily="2" charset="0"/>
              </a:rPr>
              <a:t>Autores como Cícero, Virgílio, Horácio e Aristóteles.</a:t>
            </a:r>
          </a:p>
          <a:p>
            <a:pPr marL="285750" indent="-285750">
              <a:buFont typeface="Crimson Text" pitchFamily="2" charset="0"/>
              <a:buChar char="†"/>
            </a:pPr>
            <a:r>
              <a:rPr lang="pt-BR" sz="1600" dirty="0">
                <a:latin typeface="Crimson Text" pitchFamily="2" charset="0"/>
              </a:rPr>
              <a:t>Sem os beneditinos, parte imensa da memória intelectual do Ocidente teria desaparecido.</a:t>
            </a:r>
          </a:p>
          <a:p>
            <a:endParaRPr lang="pt-BR" sz="1600" dirty="0">
              <a:latin typeface="Crimson Text" pitchFamily="2" charset="0"/>
            </a:endParaRPr>
          </a:p>
          <a:p>
            <a:r>
              <a:rPr lang="pt-BR" sz="1600" dirty="0">
                <a:latin typeface="Crimson Text" pitchFamily="2" charset="0"/>
              </a:rPr>
              <a:t>Os mosteiros se tornaram centros de difusão de:</a:t>
            </a:r>
          </a:p>
          <a:p>
            <a:endParaRPr lang="pt-BR" sz="1600" dirty="0">
              <a:latin typeface="Crimson Text" pitchFamily="2" charset="0"/>
            </a:endParaRPr>
          </a:p>
          <a:p>
            <a:pPr marL="285750" indent="-285750">
              <a:buFont typeface="Crimson Text" pitchFamily="2" charset="0"/>
              <a:buChar char="†"/>
            </a:pPr>
            <a:r>
              <a:rPr lang="pt-BR" sz="1600" dirty="0">
                <a:latin typeface="Crimson Text" pitchFamily="2" charset="0"/>
              </a:rPr>
              <a:t>Inovação agrícola e rotação de culturas</a:t>
            </a:r>
          </a:p>
          <a:p>
            <a:pPr marL="285750" indent="-285750">
              <a:buFont typeface="Crimson Text" pitchFamily="2" charset="0"/>
              <a:buChar char="†"/>
            </a:pPr>
            <a:r>
              <a:rPr lang="pt-BR" sz="1600" dirty="0">
                <a:latin typeface="Crimson Text" pitchFamily="2" charset="0"/>
              </a:rPr>
              <a:t> Técnicas hidráulicas, moinhos e irrigação</a:t>
            </a:r>
          </a:p>
          <a:p>
            <a:pPr marL="285750" indent="-285750">
              <a:buFont typeface="Crimson Text" pitchFamily="2" charset="0"/>
              <a:buChar char="†"/>
            </a:pPr>
            <a:r>
              <a:rPr lang="pt-BR" sz="1600" dirty="0">
                <a:latin typeface="Crimson Text" pitchFamily="2" charset="0"/>
              </a:rPr>
              <a:t>Modelos de construção, organização e planejamento territorial</a:t>
            </a:r>
          </a:p>
          <a:p>
            <a:pPr marL="285750" indent="-285750">
              <a:buFont typeface="Crimson Text" pitchFamily="2" charset="0"/>
              <a:buChar char="†"/>
            </a:pPr>
            <a:endParaRPr lang="pt-BR" sz="1600" dirty="0">
              <a:latin typeface="Crimson Text" pitchFamily="2" charset="0"/>
            </a:endParaRPr>
          </a:p>
          <a:p>
            <a:r>
              <a:rPr lang="pt-BR" sz="1600" dirty="0">
                <a:latin typeface="Crimson Text" pitchFamily="2" charset="0"/>
              </a:rPr>
              <a:t>Em muitos lugares, um mosteiro era a semente que originava uma futura cidade. Os beneditinos foram fundamentais na consolidação do canto gregoriano, cujas melodias moldaram a espiritualidade litúrgica da Igreja. Além disso, formaram escolas monásticas que se tornariam matrizes de futuras universidades europeias. </a:t>
            </a:r>
          </a:p>
          <a:p>
            <a:endParaRPr lang="pt-BR" sz="1600" dirty="0">
              <a:latin typeface="Crimson Text" pitchFamily="2" charset="0"/>
            </a:endParaRPr>
          </a:p>
          <a:p>
            <a:r>
              <a:rPr lang="pt-BR" sz="1600" dirty="0">
                <a:latin typeface="Crimson Text" pitchFamily="2" charset="0"/>
              </a:rPr>
              <a:t>Ainda hoje, estudiosos reconhecem que os beneditinos preservaram a cultura ocidental, transmitiram a herança cristã e clássica, fortaleceram a vida litúrgica da Igreja e ensinaram o mundo que o trabalho e a oração podem caminhar unidos. Mas nenhuma história da Ordem Beneditina estaria completa sem recordar aqueles que brilharam como faróis em meio às gerações.</a:t>
            </a:r>
          </a:p>
        </p:txBody>
      </p:sp>
      <p:sp>
        <p:nvSpPr>
          <p:cNvPr id="9" name="Espaço Reservado para Número de Slide 8">
            <a:extLst>
              <a:ext uri="{FF2B5EF4-FFF2-40B4-BE49-F238E27FC236}">
                <a16:creationId xmlns:a16="http://schemas.microsoft.com/office/drawing/2014/main" id="{042A5B4A-24C2-1C09-33A1-106685B5AB29}"/>
              </a:ext>
            </a:extLst>
          </p:cNvPr>
          <p:cNvSpPr>
            <a:spLocks noGrp="1"/>
          </p:cNvSpPr>
          <p:nvPr>
            <p:ph type="sldNum" sz="quarter" idx="12"/>
          </p:nvPr>
        </p:nvSpPr>
        <p:spPr/>
        <p:txBody>
          <a:bodyPr/>
          <a:lstStyle/>
          <a:p>
            <a:fld id="{9A399360-F993-465D-8DB3-70366CB522FF}" type="slidenum">
              <a:rPr lang="pt-BR" smtClean="0"/>
              <a:t>15</a:t>
            </a:fld>
            <a:endParaRPr lang="pt-BR" dirty="0"/>
          </a:p>
        </p:txBody>
      </p:sp>
    </p:spTree>
    <p:extLst>
      <p:ext uri="{BB962C8B-B14F-4D97-AF65-F5344CB8AC3E}">
        <p14:creationId xmlns:p14="http://schemas.microsoft.com/office/powerpoint/2010/main" val="2806296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E68C1-3BD2-2829-3603-132DB14C3F51}"/>
            </a:ext>
          </a:extLst>
        </p:cNvPr>
        <p:cNvGrpSpPr/>
        <p:nvPr/>
      </p:nvGrpSpPr>
      <p:grpSpPr>
        <a:xfrm>
          <a:off x="0" y="0"/>
          <a:ext cx="0" cy="0"/>
          <a:chOff x="0" y="0"/>
          <a:chExt cx="0" cy="0"/>
        </a:xfrm>
      </p:grpSpPr>
      <p:sp>
        <p:nvSpPr>
          <p:cNvPr id="8" name="SubTitulo">
            <a:extLst>
              <a:ext uri="{FF2B5EF4-FFF2-40B4-BE49-F238E27FC236}">
                <a16:creationId xmlns:a16="http://schemas.microsoft.com/office/drawing/2014/main" id="{77CE1A7F-CBC3-28DF-C14D-1ABE1FC549D5}"/>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O Mosteiro como Tesouro da Civilização</a:t>
            </a:r>
          </a:p>
        </p:txBody>
      </p:sp>
      <p:sp>
        <p:nvSpPr>
          <p:cNvPr id="6" name="Titulo">
            <a:extLst>
              <a:ext uri="{FF2B5EF4-FFF2-40B4-BE49-F238E27FC236}">
                <a16:creationId xmlns:a16="http://schemas.microsoft.com/office/drawing/2014/main" id="{71F1BBDB-AD91-FDEE-9451-B4DF37A0F653}"/>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Santa Ordem Beneditina:</a:t>
            </a:r>
          </a:p>
        </p:txBody>
      </p:sp>
      <p:sp>
        <p:nvSpPr>
          <p:cNvPr id="2" name="Retângulo 1">
            <a:extLst>
              <a:ext uri="{FF2B5EF4-FFF2-40B4-BE49-F238E27FC236}">
                <a16:creationId xmlns:a16="http://schemas.microsoft.com/office/drawing/2014/main" id="{4F3C7BC0-1327-1D06-4F76-C8F805357EED}"/>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332966F3-1688-CA09-5F70-414CCD53247C}"/>
              </a:ext>
            </a:extLst>
          </p:cNvPr>
          <p:cNvSpPr txBox="1"/>
          <p:nvPr/>
        </p:nvSpPr>
        <p:spPr>
          <a:xfrm>
            <a:off x="3237748" y="1681958"/>
            <a:ext cx="312821" cy="369332"/>
          </a:xfrm>
          <a:prstGeom prst="rect">
            <a:avLst/>
          </a:prstGeom>
          <a:noFill/>
        </p:spPr>
        <p:txBody>
          <a:bodyPr wrap="square" rtlCol="0">
            <a:spAutoFit/>
          </a:bodyPr>
          <a:lstStyle/>
          <a:p>
            <a:r>
              <a:rPr lang="pt-BR" dirty="0"/>
              <a:t>✠</a:t>
            </a:r>
          </a:p>
        </p:txBody>
      </p:sp>
      <p:sp>
        <p:nvSpPr>
          <p:cNvPr id="5" name="Texto">
            <a:extLst>
              <a:ext uri="{FF2B5EF4-FFF2-40B4-BE49-F238E27FC236}">
                <a16:creationId xmlns:a16="http://schemas.microsoft.com/office/drawing/2014/main" id="{A4C1697D-9B12-3060-768B-733BA4702A7B}"/>
              </a:ext>
            </a:extLst>
          </p:cNvPr>
          <p:cNvSpPr txBox="1"/>
          <p:nvPr/>
        </p:nvSpPr>
        <p:spPr>
          <a:xfrm>
            <a:off x="541422" y="1991735"/>
            <a:ext cx="6128084" cy="7725192"/>
          </a:xfrm>
          <a:prstGeom prst="rect">
            <a:avLst/>
          </a:prstGeom>
          <a:noFill/>
        </p:spPr>
        <p:txBody>
          <a:bodyPr wrap="square" rtlCol="0">
            <a:spAutoFit/>
          </a:bodyPr>
          <a:lstStyle/>
          <a:p>
            <a:r>
              <a:rPr lang="pt-BR" sz="1600" dirty="0">
                <a:latin typeface="Crimson Text" pitchFamily="2" charset="0"/>
              </a:rPr>
              <a:t>Se a vida interna do mosteiro era silenciosa, seu impacto na história da civilização foi estrondoso. A Ordem Beneditina transformou-se em um dos principais pilares culturais da Europa medieval.</a:t>
            </a:r>
          </a:p>
          <a:p>
            <a:endParaRPr lang="pt-BR" sz="1600" dirty="0">
              <a:latin typeface="Crimson Text" pitchFamily="2" charset="0"/>
            </a:endParaRPr>
          </a:p>
          <a:p>
            <a:r>
              <a:rPr lang="pt-BR" sz="1600" dirty="0">
                <a:latin typeface="Crimson Text" pitchFamily="2" charset="0"/>
              </a:rPr>
              <a:t>Monges copistas salvaram centenas de obras da antiguidade clássica, preservando:</a:t>
            </a:r>
          </a:p>
          <a:p>
            <a:endParaRPr lang="pt-BR" sz="1600" dirty="0">
              <a:latin typeface="Crimson Text" pitchFamily="2" charset="0"/>
            </a:endParaRPr>
          </a:p>
          <a:p>
            <a:pPr marL="285750" indent="-285750">
              <a:buFont typeface="Crimson Text" pitchFamily="2" charset="0"/>
              <a:buChar char="†"/>
            </a:pPr>
            <a:r>
              <a:rPr lang="pt-BR" sz="1600" dirty="0">
                <a:latin typeface="Crimson Text" pitchFamily="2" charset="0"/>
              </a:rPr>
              <a:t>Textos bíblicos e </a:t>
            </a:r>
            <a:r>
              <a:rPr lang="pt-BR" sz="1600" dirty="0" err="1">
                <a:latin typeface="Crimson Text" pitchFamily="2" charset="0"/>
              </a:rPr>
              <a:t>patrísticos</a:t>
            </a:r>
            <a:endParaRPr lang="pt-BR" sz="1600" dirty="0">
              <a:latin typeface="Crimson Text" pitchFamily="2" charset="0"/>
            </a:endParaRPr>
          </a:p>
          <a:p>
            <a:pPr marL="285750" indent="-285750">
              <a:buFont typeface="Crimson Text" pitchFamily="2" charset="0"/>
              <a:buChar char="†"/>
            </a:pPr>
            <a:r>
              <a:rPr lang="pt-BR" sz="1600" dirty="0">
                <a:latin typeface="Crimson Text" pitchFamily="2" charset="0"/>
              </a:rPr>
              <a:t>Obras de filosofia, medicina, direito e matemática</a:t>
            </a:r>
          </a:p>
          <a:p>
            <a:pPr marL="285750" indent="-285750">
              <a:buFont typeface="Crimson Text" pitchFamily="2" charset="0"/>
              <a:buChar char="†"/>
            </a:pPr>
            <a:r>
              <a:rPr lang="pt-BR" sz="1600" dirty="0">
                <a:latin typeface="Crimson Text" pitchFamily="2" charset="0"/>
              </a:rPr>
              <a:t>Autores como Cícero, Virgílio, Horácio e Aristóteles.</a:t>
            </a:r>
          </a:p>
          <a:p>
            <a:pPr marL="285750" indent="-285750">
              <a:buFont typeface="Crimson Text" pitchFamily="2" charset="0"/>
              <a:buChar char="†"/>
            </a:pPr>
            <a:r>
              <a:rPr lang="pt-BR" sz="1600" dirty="0">
                <a:latin typeface="Crimson Text" pitchFamily="2" charset="0"/>
              </a:rPr>
              <a:t>Sem os beneditinos, parte imensa da memória intelectual do Ocidente teria desaparecido.</a:t>
            </a:r>
          </a:p>
          <a:p>
            <a:endParaRPr lang="pt-BR" sz="1600" dirty="0">
              <a:latin typeface="Crimson Text" pitchFamily="2" charset="0"/>
            </a:endParaRPr>
          </a:p>
          <a:p>
            <a:r>
              <a:rPr lang="pt-BR" sz="1600" dirty="0">
                <a:latin typeface="Crimson Text" pitchFamily="2" charset="0"/>
              </a:rPr>
              <a:t>Os mosteiros se tornaram centros de difusão de:</a:t>
            </a:r>
          </a:p>
          <a:p>
            <a:endParaRPr lang="pt-BR" sz="1600" dirty="0">
              <a:latin typeface="Crimson Text" pitchFamily="2" charset="0"/>
            </a:endParaRPr>
          </a:p>
          <a:p>
            <a:pPr marL="285750" indent="-285750">
              <a:buFont typeface="Crimson Text" pitchFamily="2" charset="0"/>
              <a:buChar char="†"/>
            </a:pPr>
            <a:r>
              <a:rPr lang="pt-BR" sz="1600" dirty="0">
                <a:latin typeface="Crimson Text" pitchFamily="2" charset="0"/>
              </a:rPr>
              <a:t>Inovação agrícola e rotação de culturas</a:t>
            </a:r>
          </a:p>
          <a:p>
            <a:pPr marL="285750" indent="-285750">
              <a:buFont typeface="Crimson Text" pitchFamily="2" charset="0"/>
              <a:buChar char="†"/>
            </a:pPr>
            <a:r>
              <a:rPr lang="pt-BR" sz="1600" dirty="0">
                <a:latin typeface="Crimson Text" pitchFamily="2" charset="0"/>
              </a:rPr>
              <a:t> Técnicas hidráulicas, moinhos e irrigação</a:t>
            </a:r>
          </a:p>
          <a:p>
            <a:pPr marL="285750" indent="-285750">
              <a:buFont typeface="Crimson Text" pitchFamily="2" charset="0"/>
              <a:buChar char="†"/>
            </a:pPr>
            <a:r>
              <a:rPr lang="pt-BR" sz="1600" dirty="0">
                <a:latin typeface="Crimson Text" pitchFamily="2" charset="0"/>
              </a:rPr>
              <a:t>Modelos de construção, organização e planejamento territorial</a:t>
            </a:r>
          </a:p>
          <a:p>
            <a:pPr marL="285750" indent="-285750">
              <a:buFont typeface="Crimson Text" pitchFamily="2" charset="0"/>
              <a:buChar char="†"/>
            </a:pPr>
            <a:endParaRPr lang="pt-BR" sz="1600" dirty="0">
              <a:latin typeface="Crimson Text" pitchFamily="2" charset="0"/>
            </a:endParaRPr>
          </a:p>
          <a:p>
            <a:r>
              <a:rPr lang="pt-BR" sz="1600" dirty="0">
                <a:latin typeface="Crimson Text" pitchFamily="2" charset="0"/>
              </a:rPr>
              <a:t>Em muitos lugares, um mosteiro era a semente que originava uma futura cidade. Os beneditinos foram fundamentais na consolidação do canto gregoriano, cujas melodias moldaram a espiritualidade litúrgica da Igreja. Além disso, formaram escolas monásticas que se tornariam matrizes de futuras universidades europeias. </a:t>
            </a:r>
          </a:p>
          <a:p>
            <a:endParaRPr lang="pt-BR" sz="1600" dirty="0">
              <a:latin typeface="Crimson Text" pitchFamily="2" charset="0"/>
            </a:endParaRPr>
          </a:p>
          <a:p>
            <a:r>
              <a:rPr lang="pt-BR" sz="1600" dirty="0">
                <a:latin typeface="Crimson Text" pitchFamily="2" charset="0"/>
              </a:rPr>
              <a:t>Ainda hoje, estudiosos reconhecem que os beneditinos preservaram a cultura ocidental, transmitiram a herança cristã e clássica, fortaleceram a vida litúrgica da Igreja e ensinaram o mundo que o trabalho e a oração podem caminhar unidos. Mas nenhuma história da Ordem Beneditina estaria completa sem recordar aqueles que brilharam como faróis em meio às gerações.</a:t>
            </a:r>
          </a:p>
        </p:txBody>
      </p:sp>
      <p:sp>
        <p:nvSpPr>
          <p:cNvPr id="9" name="Espaço Reservado para Número de Slide 8">
            <a:extLst>
              <a:ext uri="{FF2B5EF4-FFF2-40B4-BE49-F238E27FC236}">
                <a16:creationId xmlns:a16="http://schemas.microsoft.com/office/drawing/2014/main" id="{6599D6F5-5869-178C-D2DD-1285FF6BF607}"/>
              </a:ext>
            </a:extLst>
          </p:cNvPr>
          <p:cNvSpPr>
            <a:spLocks noGrp="1"/>
          </p:cNvSpPr>
          <p:nvPr>
            <p:ph type="sldNum" sz="quarter" idx="12"/>
          </p:nvPr>
        </p:nvSpPr>
        <p:spPr/>
        <p:txBody>
          <a:bodyPr/>
          <a:lstStyle/>
          <a:p>
            <a:fld id="{9A399360-F993-465D-8DB3-70366CB522FF}" type="slidenum">
              <a:rPr lang="pt-BR" smtClean="0"/>
              <a:t>16</a:t>
            </a:fld>
            <a:endParaRPr lang="pt-BR" dirty="0"/>
          </a:p>
        </p:txBody>
      </p:sp>
    </p:spTree>
    <p:extLst>
      <p:ext uri="{BB962C8B-B14F-4D97-AF65-F5344CB8AC3E}">
        <p14:creationId xmlns:p14="http://schemas.microsoft.com/office/powerpoint/2010/main" val="2105020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9C2D8-4D9D-C464-3CCD-D20D3B24FA36}"/>
            </a:ext>
          </a:extLst>
        </p:cNvPr>
        <p:cNvGrpSpPr/>
        <p:nvPr/>
      </p:nvGrpSpPr>
      <p:grpSpPr>
        <a:xfrm>
          <a:off x="0" y="0"/>
          <a:ext cx="0" cy="0"/>
          <a:chOff x="0" y="0"/>
          <a:chExt cx="0" cy="0"/>
        </a:xfrm>
      </p:grpSpPr>
      <p:sp>
        <p:nvSpPr>
          <p:cNvPr id="8" name="SubTitulo">
            <a:extLst>
              <a:ext uri="{FF2B5EF4-FFF2-40B4-BE49-F238E27FC236}">
                <a16:creationId xmlns:a16="http://schemas.microsoft.com/office/drawing/2014/main" id="{E1FDF6D7-FA93-C24B-6BAE-0B911555C18B}"/>
              </a:ext>
            </a:extLst>
          </p:cNvPr>
          <p:cNvSpPr txBox="1"/>
          <p:nvPr/>
        </p:nvSpPr>
        <p:spPr>
          <a:xfrm>
            <a:off x="541422" y="1116861"/>
            <a:ext cx="5975684" cy="461665"/>
          </a:xfrm>
          <a:prstGeom prst="rect">
            <a:avLst/>
          </a:prstGeom>
          <a:noFill/>
        </p:spPr>
        <p:txBody>
          <a:bodyPr wrap="square">
            <a:spAutoFit/>
          </a:bodyPr>
          <a:lstStyle/>
          <a:p>
            <a:r>
              <a:rPr lang="pt-BR" sz="2400" dirty="0">
                <a:latin typeface="Crimson Text SemiBold" pitchFamily="2" charset="0"/>
              </a:rPr>
              <a:t>Sobre entrega do projeto</a:t>
            </a:r>
          </a:p>
        </p:txBody>
      </p:sp>
      <p:sp>
        <p:nvSpPr>
          <p:cNvPr id="6" name="Titulo">
            <a:extLst>
              <a:ext uri="{FF2B5EF4-FFF2-40B4-BE49-F238E27FC236}">
                <a16:creationId xmlns:a16="http://schemas.microsoft.com/office/drawing/2014/main" id="{94E28989-AD2B-A8E1-D497-8982FFE4D00D}"/>
              </a:ext>
            </a:extLst>
          </p:cNvPr>
          <p:cNvSpPr txBox="1"/>
          <p:nvPr/>
        </p:nvSpPr>
        <p:spPr>
          <a:xfrm>
            <a:off x="553454" y="616303"/>
            <a:ext cx="6340642" cy="584775"/>
          </a:xfrm>
          <a:prstGeom prst="rect">
            <a:avLst/>
          </a:prstGeom>
          <a:noFill/>
        </p:spPr>
        <p:txBody>
          <a:bodyPr wrap="square">
            <a:spAutoFit/>
          </a:bodyPr>
          <a:lstStyle/>
          <a:p>
            <a:r>
              <a:rPr lang="pt-BR" sz="3200" dirty="0">
                <a:latin typeface="Playfair Display" pitchFamily="2" charset="0"/>
              </a:rPr>
              <a:t>Observações</a:t>
            </a:r>
          </a:p>
        </p:txBody>
      </p:sp>
      <p:sp>
        <p:nvSpPr>
          <p:cNvPr id="2" name="Retângulo 1">
            <a:extLst>
              <a:ext uri="{FF2B5EF4-FFF2-40B4-BE49-F238E27FC236}">
                <a16:creationId xmlns:a16="http://schemas.microsoft.com/office/drawing/2014/main" id="{46BA922B-AB1E-02F5-6EF3-DFFD696437CF}"/>
              </a:ext>
            </a:extLst>
          </p:cNvPr>
          <p:cNvSpPr/>
          <p:nvPr/>
        </p:nvSpPr>
        <p:spPr>
          <a:xfrm>
            <a:off x="565483" y="-1"/>
            <a:ext cx="84222" cy="1080765"/>
          </a:xfrm>
          <a:prstGeom prst="rect">
            <a:avLst/>
          </a:prstGeom>
          <a:gradFill flip="none" rotWithShape="1">
            <a:gsLst>
              <a:gs pos="0">
                <a:srgbClr val="FEE485"/>
              </a:gs>
              <a:gs pos="74000">
                <a:srgbClr val="CA8335"/>
              </a:gs>
              <a:gs pos="83000">
                <a:srgbClr val="8A4E1C"/>
              </a:gs>
              <a:gs pos="100000">
                <a:srgbClr val="8A4E1C"/>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FE50E286-33FB-7432-BEC3-D20438135CEA}"/>
              </a:ext>
            </a:extLst>
          </p:cNvPr>
          <p:cNvSpPr txBox="1"/>
          <p:nvPr/>
        </p:nvSpPr>
        <p:spPr>
          <a:xfrm>
            <a:off x="3237748" y="1681958"/>
            <a:ext cx="312821" cy="369332"/>
          </a:xfrm>
          <a:prstGeom prst="rect">
            <a:avLst/>
          </a:prstGeom>
          <a:noFill/>
        </p:spPr>
        <p:txBody>
          <a:bodyPr wrap="square" rtlCol="0">
            <a:spAutoFit/>
          </a:bodyPr>
          <a:lstStyle/>
          <a:p>
            <a:r>
              <a:rPr lang="pt-BR" dirty="0"/>
              <a:t>✠</a:t>
            </a:r>
          </a:p>
        </p:txBody>
      </p:sp>
      <p:sp>
        <p:nvSpPr>
          <p:cNvPr id="5" name="Texto">
            <a:extLst>
              <a:ext uri="{FF2B5EF4-FFF2-40B4-BE49-F238E27FC236}">
                <a16:creationId xmlns:a16="http://schemas.microsoft.com/office/drawing/2014/main" id="{D33DF088-E728-ABE1-7348-6AE489C78770}"/>
              </a:ext>
            </a:extLst>
          </p:cNvPr>
          <p:cNvSpPr txBox="1"/>
          <p:nvPr/>
        </p:nvSpPr>
        <p:spPr>
          <a:xfrm>
            <a:off x="541422" y="1991735"/>
            <a:ext cx="6128084" cy="1815882"/>
          </a:xfrm>
          <a:prstGeom prst="rect">
            <a:avLst/>
          </a:prstGeom>
          <a:noFill/>
        </p:spPr>
        <p:txBody>
          <a:bodyPr wrap="square" rtlCol="0">
            <a:spAutoFit/>
          </a:bodyPr>
          <a:lstStyle/>
          <a:p>
            <a:pPr marL="285750" indent="-285750">
              <a:buFont typeface="Crimson Text" pitchFamily="2" charset="0"/>
              <a:buChar char="†"/>
            </a:pPr>
            <a:r>
              <a:rPr lang="pt-BR" sz="1600" dirty="0">
                <a:latin typeface="Crimson Text" pitchFamily="2" charset="0"/>
              </a:rPr>
              <a:t>Foram terminadas todas as etapas do curso com uma única alteração, hoje o </a:t>
            </a:r>
            <a:r>
              <a:rPr lang="pt-BR" sz="1600" dirty="0" err="1">
                <a:latin typeface="Crimson Text" pitchFamily="2" charset="0"/>
              </a:rPr>
              <a:t>midjourney</a:t>
            </a:r>
            <a:r>
              <a:rPr lang="pt-BR" sz="1600" dirty="0">
                <a:latin typeface="Crimson Text" pitchFamily="2" charset="0"/>
              </a:rPr>
              <a:t> é uma ferramenta paga, para tanto as imagens foram utilizadas com a Leonardo.AI</a:t>
            </a:r>
          </a:p>
          <a:p>
            <a:pPr marL="285750" indent="-285750">
              <a:buFont typeface="Crimson Text" pitchFamily="2" charset="0"/>
              <a:buChar char="†"/>
            </a:pPr>
            <a:r>
              <a:rPr lang="pt-BR" sz="1600" dirty="0">
                <a:latin typeface="Crimson Text" pitchFamily="2" charset="0"/>
              </a:rPr>
              <a:t>Ainda estou atualizando o conteúdo, mas vou postando as versões com o tempo pois consegui muito conteúdo e as pesquisas no ChatGPT são limitadas por dia, e para não atrasar mais a entrega optei por já encaminha uma demonstração de como o ebook está ficando.</a:t>
            </a:r>
          </a:p>
        </p:txBody>
      </p:sp>
      <p:sp>
        <p:nvSpPr>
          <p:cNvPr id="9" name="Espaço Reservado para Número de Slide 8">
            <a:extLst>
              <a:ext uri="{FF2B5EF4-FFF2-40B4-BE49-F238E27FC236}">
                <a16:creationId xmlns:a16="http://schemas.microsoft.com/office/drawing/2014/main" id="{4AA1C7E4-21F6-0EFA-6C23-88B17924AEF3}"/>
              </a:ext>
            </a:extLst>
          </p:cNvPr>
          <p:cNvSpPr>
            <a:spLocks noGrp="1"/>
          </p:cNvSpPr>
          <p:nvPr>
            <p:ph type="sldNum" sz="quarter" idx="12"/>
          </p:nvPr>
        </p:nvSpPr>
        <p:spPr/>
        <p:txBody>
          <a:bodyPr/>
          <a:lstStyle/>
          <a:p>
            <a:fld id="{9A399360-F993-465D-8DB3-70366CB522FF}" type="slidenum">
              <a:rPr lang="pt-BR" smtClean="0"/>
              <a:t>17</a:t>
            </a:fld>
            <a:endParaRPr lang="pt-BR" dirty="0"/>
          </a:p>
        </p:txBody>
      </p:sp>
    </p:spTree>
    <p:extLst>
      <p:ext uri="{BB962C8B-B14F-4D97-AF65-F5344CB8AC3E}">
        <p14:creationId xmlns:p14="http://schemas.microsoft.com/office/powerpoint/2010/main" val="2821233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o">
            <a:extLst>
              <a:ext uri="{FF2B5EF4-FFF2-40B4-BE49-F238E27FC236}">
                <a16:creationId xmlns:a16="http://schemas.microsoft.com/office/drawing/2014/main" id="{D1862896-4D85-42A3-E407-241E77F7353C}"/>
              </a:ext>
            </a:extLst>
          </p:cNvPr>
          <p:cNvSpPr txBox="1"/>
          <p:nvPr/>
        </p:nvSpPr>
        <p:spPr>
          <a:xfrm>
            <a:off x="395037" y="1926437"/>
            <a:ext cx="6128084" cy="1107996"/>
          </a:xfrm>
          <a:prstGeom prst="rect">
            <a:avLst/>
          </a:prstGeom>
          <a:noFill/>
        </p:spPr>
        <p:txBody>
          <a:bodyPr wrap="square" rtlCol="0">
            <a:spAutoFit/>
          </a:bodyPr>
          <a:lstStyle/>
          <a:p>
            <a:r>
              <a:rPr lang="pt-BR" sz="1600" dirty="0">
                <a:latin typeface="Crimson Text" pitchFamily="2" charset="0"/>
              </a:rPr>
              <a:t>Lorem ipsum dolor sit amet, consectetuer adipiscing elit. Maecenas porttitor congue massa. Fusce posuere, magna sed pulvinar ultricies, purus lectus malesuada libero, sit amet commodo magna eros quis urna.</a:t>
            </a:r>
          </a:p>
          <a:p>
            <a:endParaRPr lang="pt-BR" dirty="0"/>
          </a:p>
        </p:txBody>
      </p:sp>
      <p:sp>
        <p:nvSpPr>
          <p:cNvPr id="8" name="SubTitulo">
            <a:extLst>
              <a:ext uri="{FF2B5EF4-FFF2-40B4-BE49-F238E27FC236}">
                <a16:creationId xmlns:a16="http://schemas.microsoft.com/office/drawing/2014/main" id="{3C52D709-4C12-A9B2-2305-66ED18A164D2}"/>
              </a:ext>
            </a:extLst>
          </p:cNvPr>
          <p:cNvSpPr txBox="1"/>
          <p:nvPr/>
        </p:nvSpPr>
        <p:spPr>
          <a:xfrm>
            <a:off x="441158" y="1221366"/>
            <a:ext cx="5975684" cy="461665"/>
          </a:xfrm>
          <a:prstGeom prst="rect">
            <a:avLst/>
          </a:prstGeom>
          <a:noFill/>
        </p:spPr>
        <p:txBody>
          <a:bodyPr wrap="square">
            <a:spAutoFit/>
          </a:bodyPr>
          <a:lstStyle/>
          <a:p>
            <a:pPr algn="ctr"/>
            <a:r>
              <a:rPr lang="pt-BR" sz="2400" dirty="0" err="1">
                <a:latin typeface="Crimson Text SemiBold" pitchFamily="2" charset="0"/>
              </a:rPr>
              <a:t>Lorem</a:t>
            </a:r>
            <a:r>
              <a:rPr lang="pt-BR" sz="2400" dirty="0">
                <a:latin typeface="Crimson Text SemiBold" pitchFamily="2" charset="0"/>
              </a:rPr>
              <a:t> ipsum </a:t>
            </a:r>
            <a:r>
              <a:rPr lang="pt-BR" sz="2400" dirty="0" err="1">
                <a:latin typeface="Crimson Text SemiBold" pitchFamily="2" charset="0"/>
              </a:rPr>
              <a:t>dolor</a:t>
            </a:r>
            <a:r>
              <a:rPr lang="pt-BR" sz="2400" dirty="0">
                <a:latin typeface="Crimson Text SemiBold" pitchFamily="2" charset="0"/>
              </a:rPr>
              <a:t> </a:t>
            </a:r>
            <a:r>
              <a:rPr lang="pt-BR" sz="2400" dirty="0" err="1">
                <a:latin typeface="Crimson Text SemiBold" pitchFamily="2" charset="0"/>
              </a:rPr>
              <a:t>sit</a:t>
            </a:r>
            <a:r>
              <a:rPr lang="pt-BR" sz="2400" dirty="0">
                <a:latin typeface="Crimson Text SemiBold" pitchFamily="2" charset="0"/>
              </a:rPr>
              <a:t> </a:t>
            </a:r>
            <a:r>
              <a:rPr lang="pt-BR" sz="2400" dirty="0" err="1">
                <a:latin typeface="Crimson Text SemiBold" pitchFamily="2" charset="0"/>
              </a:rPr>
              <a:t>amet</a:t>
            </a:r>
            <a:r>
              <a:rPr lang="pt-BR" sz="2400" dirty="0">
                <a:latin typeface="Crimson Text SemiBold" pitchFamily="2" charset="0"/>
              </a:rPr>
              <a:t>, </a:t>
            </a:r>
            <a:r>
              <a:rPr lang="pt-BR" sz="2400" dirty="0" err="1">
                <a:latin typeface="Crimson Text SemiBold" pitchFamily="2" charset="0"/>
              </a:rPr>
              <a:t>consectetuer</a:t>
            </a:r>
            <a:r>
              <a:rPr lang="pt-BR" sz="2400" dirty="0">
                <a:latin typeface="Crimson Text SemiBold" pitchFamily="2" charset="0"/>
              </a:rPr>
              <a:t> </a:t>
            </a:r>
          </a:p>
        </p:txBody>
      </p:sp>
      <p:sp>
        <p:nvSpPr>
          <p:cNvPr id="6" name="Titulo">
            <a:extLst>
              <a:ext uri="{FF2B5EF4-FFF2-40B4-BE49-F238E27FC236}">
                <a16:creationId xmlns:a16="http://schemas.microsoft.com/office/drawing/2014/main" id="{70EBFB5A-2675-3A50-0953-79E810EE3480}"/>
              </a:ext>
            </a:extLst>
          </p:cNvPr>
          <p:cNvSpPr txBox="1"/>
          <p:nvPr/>
        </p:nvSpPr>
        <p:spPr>
          <a:xfrm>
            <a:off x="258679" y="188907"/>
            <a:ext cx="6340642" cy="1077218"/>
          </a:xfrm>
          <a:prstGeom prst="rect">
            <a:avLst/>
          </a:prstGeom>
          <a:noFill/>
        </p:spPr>
        <p:txBody>
          <a:bodyPr wrap="square">
            <a:spAutoFit/>
          </a:bodyPr>
          <a:lstStyle/>
          <a:p>
            <a:pPr algn="ctr"/>
            <a:r>
              <a:rPr lang="pt-BR" sz="3200" dirty="0" err="1">
                <a:latin typeface="Playfair Display" pitchFamily="2" charset="0"/>
              </a:rPr>
              <a:t>Lorem</a:t>
            </a:r>
            <a:r>
              <a:rPr lang="pt-BR" sz="3200" dirty="0">
                <a:latin typeface="Playfair Display" pitchFamily="2" charset="0"/>
              </a:rPr>
              <a:t> ipsum </a:t>
            </a:r>
            <a:r>
              <a:rPr lang="pt-BR" sz="3200" dirty="0" err="1">
                <a:latin typeface="Playfair Display" pitchFamily="2" charset="0"/>
              </a:rPr>
              <a:t>dolor</a:t>
            </a:r>
            <a:r>
              <a:rPr lang="pt-BR" sz="3200" dirty="0">
                <a:latin typeface="Playfair Display" pitchFamily="2" charset="0"/>
              </a:rPr>
              <a:t> </a:t>
            </a:r>
            <a:r>
              <a:rPr lang="pt-BR" sz="3200" dirty="0" err="1">
                <a:latin typeface="Playfair Display" pitchFamily="2" charset="0"/>
              </a:rPr>
              <a:t>sit</a:t>
            </a:r>
            <a:r>
              <a:rPr lang="pt-BR" sz="3200" dirty="0">
                <a:latin typeface="Playfair Display" pitchFamily="2" charset="0"/>
              </a:rPr>
              <a:t> </a:t>
            </a:r>
            <a:r>
              <a:rPr lang="pt-BR" sz="3200" dirty="0" err="1">
                <a:latin typeface="Playfair Display" pitchFamily="2" charset="0"/>
              </a:rPr>
              <a:t>amet</a:t>
            </a:r>
            <a:r>
              <a:rPr lang="pt-BR" sz="3200" dirty="0">
                <a:latin typeface="Playfair Display" pitchFamily="2" charset="0"/>
              </a:rPr>
              <a:t>, </a:t>
            </a:r>
            <a:r>
              <a:rPr lang="pt-BR" sz="3200" dirty="0" err="1">
                <a:latin typeface="Playfair Display" pitchFamily="2" charset="0"/>
              </a:rPr>
              <a:t>consectetuer</a:t>
            </a:r>
            <a:r>
              <a:rPr lang="pt-BR" sz="3200" dirty="0">
                <a:latin typeface="Playfair Display" pitchFamily="2" charset="0"/>
              </a:rPr>
              <a:t> </a:t>
            </a:r>
          </a:p>
        </p:txBody>
      </p:sp>
      <p:sp>
        <p:nvSpPr>
          <p:cNvPr id="5" name="Espaço Reservado para Número de Slide 4">
            <a:extLst>
              <a:ext uri="{FF2B5EF4-FFF2-40B4-BE49-F238E27FC236}">
                <a16:creationId xmlns:a16="http://schemas.microsoft.com/office/drawing/2014/main" id="{B9ADEEC5-B211-271F-86C3-E954AD34B114}"/>
              </a:ext>
            </a:extLst>
          </p:cNvPr>
          <p:cNvSpPr>
            <a:spLocks noGrp="1"/>
          </p:cNvSpPr>
          <p:nvPr>
            <p:ph type="sldNum" sz="quarter" idx="12"/>
          </p:nvPr>
        </p:nvSpPr>
        <p:spPr/>
        <p:txBody>
          <a:bodyPr/>
          <a:lstStyle/>
          <a:p>
            <a:fld id="{9A399360-F993-465D-8DB3-70366CB522FF}" type="slidenum">
              <a:rPr lang="pt-BR" smtClean="0"/>
              <a:t>18</a:t>
            </a:fld>
            <a:endParaRPr lang="pt-BR"/>
          </a:p>
        </p:txBody>
      </p:sp>
    </p:spTree>
    <p:extLst>
      <p:ext uri="{BB962C8B-B14F-4D97-AF65-F5344CB8AC3E}">
        <p14:creationId xmlns:p14="http://schemas.microsoft.com/office/powerpoint/2010/main" val="968925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63609-7FB6-224E-7041-15C37A08F6E4}"/>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3EAE3680-D658-E2E1-F855-AAAEA3D7A651}"/>
              </a:ext>
            </a:extLst>
          </p:cNvPr>
          <p:cNvSpPr/>
          <p:nvPr/>
        </p:nvSpPr>
        <p:spPr>
          <a:xfrm>
            <a:off x="0" y="0"/>
            <a:ext cx="6858000" cy="9906000"/>
          </a:xfrm>
          <a:prstGeom prst="rect">
            <a:avLst/>
          </a:prstGeom>
          <a:solidFill>
            <a:srgbClr val="74360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
            <a:extLst>
              <a:ext uri="{FF2B5EF4-FFF2-40B4-BE49-F238E27FC236}">
                <a16:creationId xmlns:a16="http://schemas.microsoft.com/office/drawing/2014/main" id="{CC71A2EA-90DE-32AC-93A4-0E93DCE66C60}"/>
              </a:ext>
            </a:extLst>
          </p:cNvPr>
          <p:cNvSpPr txBox="1"/>
          <p:nvPr/>
        </p:nvSpPr>
        <p:spPr>
          <a:xfrm>
            <a:off x="258679" y="4953000"/>
            <a:ext cx="6340642" cy="830997"/>
          </a:xfrm>
          <a:prstGeom prst="rect">
            <a:avLst/>
          </a:prstGeom>
          <a:noFill/>
        </p:spPr>
        <p:txBody>
          <a:bodyPr wrap="square">
            <a:spAutoFit/>
          </a:bodyPr>
          <a:lstStyle/>
          <a:p>
            <a:pPr algn="ctr"/>
            <a:r>
              <a:rPr lang="pt-BR" sz="2400" dirty="0">
                <a:solidFill>
                  <a:schemeClr val="bg1"/>
                </a:solidFill>
                <a:latin typeface="Playfair Display" pitchFamily="2" charset="0"/>
              </a:rPr>
              <a:t>ESTANDARTES AO LONGE:</a:t>
            </a:r>
          </a:p>
          <a:p>
            <a:pPr algn="ctr"/>
            <a:r>
              <a:rPr lang="pt-BR" sz="2400" dirty="0">
                <a:solidFill>
                  <a:schemeClr val="bg1"/>
                </a:solidFill>
                <a:latin typeface="Playfair Display" pitchFamily="2" charset="0"/>
              </a:rPr>
              <a:t>CONHECENDO OS GUARDIÕES DA FÉ</a:t>
            </a:r>
            <a:endParaRPr lang="pt-BR" sz="2400" dirty="0">
              <a:solidFill>
                <a:schemeClr val="bg1"/>
              </a:solidFill>
              <a:latin typeface="Crimson Text SemiBold" pitchFamily="2" charset="0"/>
            </a:endParaRPr>
          </a:p>
        </p:txBody>
      </p:sp>
      <p:sp>
        <p:nvSpPr>
          <p:cNvPr id="5" name="Titulo">
            <a:extLst>
              <a:ext uri="{FF2B5EF4-FFF2-40B4-BE49-F238E27FC236}">
                <a16:creationId xmlns:a16="http://schemas.microsoft.com/office/drawing/2014/main" id="{A08BE886-9FB0-EEF1-BE66-C326355DCFFB}"/>
              </a:ext>
            </a:extLst>
          </p:cNvPr>
          <p:cNvSpPr txBox="1"/>
          <p:nvPr/>
        </p:nvSpPr>
        <p:spPr>
          <a:xfrm>
            <a:off x="258679" y="1198715"/>
            <a:ext cx="6340642" cy="3539430"/>
          </a:xfrm>
          <a:prstGeom prst="rect">
            <a:avLst/>
          </a:prstGeom>
          <a:noFill/>
        </p:spPr>
        <p:txBody>
          <a:bodyPr wrap="square">
            <a:spAutoFit/>
          </a:bodyPr>
          <a:lstStyle/>
          <a:p>
            <a:pPr algn="ctr"/>
            <a:r>
              <a:rPr lang="pt-BR" sz="22400" dirty="0">
                <a:ln>
                  <a:solidFill>
                    <a:schemeClr val="bg1"/>
                  </a:solidFill>
                </a:ln>
                <a:noFill/>
                <a:latin typeface="Playfair Display" pitchFamily="2" charset="0"/>
              </a:rPr>
              <a:t>01</a:t>
            </a:r>
          </a:p>
        </p:txBody>
      </p:sp>
      <p:sp>
        <p:nvSpPr>
          <p:cNvPr id="6" name="Retângulo 5">
            <a:extLst>
              <a:ext uri="{FF2B5EF4-FFF2-40B4-BE49-F238E27FC236}">
                <a16:creationId xmlns:a16="http://schemas.microsoft.com/office/drawing/2014/main" id="{4D748480-DBEC-6A18-E70F-8C6A152EB2DD}"/>
              </a:ext>
            </a:extLst>
          </p:cNvPr>
          <p:cNvSpPr/>
          <p:nvPr/>
        </p:nvSpPr>
        <p:spPr>
          <a:xfrm>
            <a:off x="493294" y="5829208"/>
            <a:ext cx="5871411" cy="144364"/>
          </a:xfrm>
          <a:prstGeom prst="rect">
            <a:avLst/>
          </a:prstGeom>
          <a:gradFill flip="none" rotWithShape="1">
            <a:gsLst>
              <a:gs pos="0">
                <a:srgbClr val="FEE485"/>
              </a:gs>
              <a:gs pos="74000">
                <a:srgbClr val="CA8335"/>
              </a:gs>
              <a:gs pos="83000">
                <a:srgbClr val="8A4E1C"/>
              </a:gs>
              <a:gs pos="100000">
                <a:srgbClr val="8A4E1C"/>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Titulo">
            <a:extLst>
              <a:ext uri="{FF2B5EF4-FFF2-40B4-BE49-F238E27FC236}">
                <a16:creationId xmlns:a16="http://schemas.microsoft.com/office/drawing/2014/main" id="{326191FF-97A2-7E34-D70C-08DD4E3B56EE}"/>
              </a:ext>
            </a:extLst>
          </p:cNvPr>
          <p:cNvSpPr txBox="1"/>
          <p:nvPr/>
        </p:nvSpPr>
        <p:spPr>
          <a:xfrm>
            <a:off x="258679" y="5998852"/>
            <a:ext cx="6340642" cy="1815882"/>
          </a:xfrm>
          <a:prstGeom prst="rect">
            <a:avLst/>
          </a:prstGeom>
          <a:noFill/>
        </p:spPr>
        <p:txBody>
          <a:bodyPr wrap="square">
            <a:spAutoFit/>
          </a:bodyPr>
          <a:lstStyle/>
          <a:p>
            <a:pPr algn="ctr"/>
            <a:r>
              <a:rPr lang="pt-BR" sz="1600" dirty="0">
                <a:solidFill>
                  <a:schemeClr val="bg1"/>
                </a:solidFill>
                <a:latin typeface="Crimson Text" pitchFamily="2" charset="0"/>
              </a:rPr>
              <a:t>Ao admirar esses mosaicos, o peregrino percebe que a luz que nasce no horizonte é a mesma mas ela não se derrama sobre a terra de modo uniforme. Ela encontra formas diversas, reflete-se em modos de vida, floresce em costumes distintos. É então que </a:t>
            </a:r>
            <a:r>
              <a:rPr lang="pt-BR" sz="1600" b="1" dirty="0">
                <a:solidFill>
                  <a:schemeClr val="bg1"/>
                </a:solidFill>
                <a:latin typeface="Crimson Text" pitchFamily="2" charset="0"/>
              </a:rPr>
              <a:t>surge a descoberta</a:t>
            </a:r>
            <a:r>
              <a:rPr lang="pt-BR" sz="1600" dirty="0">
                <a:solidFill>
                  <a:schemeClr val="bg1"/>
                </a:solidFill>
                <a:latin typeface="Crimson Text" pitchFamily="2" charset="0"/>
              </a:rPr>
              <a:t>: existem homens e mulheres que, movidos por essa claridade, </a:t>
            </a:r>
            <a:r>
              <a:rPr lang="pt-BR" sz="1600" b="1" dirty="0">
                <a:solidFill>
                  <a:schemeClr val="bg1"/>
                </a:solidFill>
                <a:latin typeface="Crimson Text" pitchFamily="2" charset="0"/>
              </a:rPr>
              <a:t>consagram toda a existência ao serviço de Cristo</a:t>
            </a:r>
            <a:r>
              <a:rPr lang="pt-BR" sz="1600" dirty="0">
                <a:solidFill>
                  <a:schemeClr val="bg1"/>
                </a:solidFill>
                <a:latin typeface="Crimson Text" pitchFamily="2" charset="0"/>
              </a:rPr>
              <a:t>. Chamamo-los de religiosos e às suas casas espirituais chamamos ordens.</a:t>
            </a:r>
          </a:p>
        </p:txBody>
      </p:sp>
      <p:sp>
        <p:nvSpPr>
          <p:cNvPr id="11" name="Espaço Reservado para Número de Slide 10">
            <a:extLst>
              <a:ext uri="{FF2B5EF4-FFF2-40B4-BE49-F238E27FC236}">
                <a16:creationId xmlns:a16="http://schemas.microsoft.com/office/drawing/2014/main" id="{15917E78-2ECC-E0A5-E211-1082A8AE8842}"/>
              </a:ext>
            </a:extLst>
          </p:cNvPr>
          <p:cNvSpPr>
            <a:spLocks noGrp="1"/>
          </p:cNvSpPr>
          <p:nvPr>
            <p:ph type="sldNum" sz="quarter" idx="12"/>
          </p:nvPr>
        </p:nvSpPr>
        <p:spPr/>
        <p:txBody>
          <a:bodyPr/>
          <a:lstStyle/>
          <a:p>
            <a:fld id="{9A399360-F993-465D-8DB3-70366CB522FF}" type="slidenum">
              <a:rPr lang="pt-BR" smtClean="0"/>
              <a:t>19</a:t>
            </a:fld>
            <a:endParaRPr lang="pt-BR"/>
          </a:p>
        </p:txBody>
      </p:sp>
    </p:spTree>
    <p:extLst>
      <p:ext uri="{BB962C8B-B14F-4D97-AF65-F5344CB8AC3E}">
        <p14:creationId xmlns:p14="http://schemas.microsoft.com/office/powerpoint/2010/main" val="302009903"/>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2850</TotalTime>
  <Words>2811</Words>
  <Application>Microsoft Office PowerPoint</Application>
  <PresentationFormat>Papel A4 (210 x 297 mm)</PresentationFormat>
  <Paragraphs>262</Paragraphs>
  <Slides>19</Slides>
  <Notes>0</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19</vt:i4>
      </vt:variant>
    </vt:vector>
  </HeadingPairs>
  <TitlesOfParts>
    <vt:vector size="27" baseType="lpstr">
      <vt:lpstr>Arial</vt:lpstr>
      <vt:lpstr>Calibri</vt:lpstr>
      <vt:lpstr>Calibri Light</vt:lpstr>
      <vt:lpstr>Cinzel</vt:lpstr>
      <vt:lpstr>Crimson Text</vt:lpstr>
      <vt:lpstr>Crimson Text SemiBold</vt:lpstr>
      <vt:lpstr>Playfair Display</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 Chaves Monteiro</dc:creator>
  <cp:lastModifiedBy>Andre Chaves Monteiro</cp:lastModifiedBy>
  <cp:revision>12</cp:revision>
  <cp:lastPrinted>2025-11-18T00:51:02Z</cp:lastPrinted>
  <dcterms:created xsi:type="dcterms:W3CDTF">2025-11-16T01:19:29Z</dcterms:created>
  <dcterms:modified xsi:type="dcterms:W3CDTF">2025-11-18T00:51:42Z</dcterms:modified>
</cp:coreProperties>
</file>